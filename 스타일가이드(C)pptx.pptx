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4" r:id="rId2"/>
    <p:sldId id="265" r:id="rId3"/>
    <p:sldId id="476" r:id="rId4"/>
    <p:sldId id="492" r:id="rId5"/>
    <p:sldId id="493" r:id="rId6"/>
    <p:sldId id="494" r:id="rId7"/>
    <p:sldId id="495" r:id="rId8"/>
    <p:sldId id="496" r:id="rId9"/>
    <p:sldId id="498" r:id="rId10"/>
    <p:sldId id="499" r:id="rId11"/>
    <p:sldId id="500" r:id="rId12"/>
    <p:sldId id="501" r:id="rId13"/>
    <p:sldId id="482" r:id="rId14"/>
    <p:sldId id="483" r:id="rId15"/>
    <p:sldId id="49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EFF3FD"/>
    <a:srgbClr val="051766"/>
    <a:srgbClr val="BCE4F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0C30-8012-4941-8EC7-F293906D307F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CE28C-4AD8-4574-886D-F23870002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63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CCE28C-4AD8-4574-886D-F23870002D0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306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FEE98-AE57-4C35-B3AB-54A854D88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6F2A74-1662-44C0-9491-04254F28D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544ED-E500-4410-B279-2741CC5C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C202FA-6742-408A-A94F-8496F959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C7155F-AA14-4227-9D00-0226B8B2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31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53B8D-080B-4832-B0B6-71945C2C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176DF0-34EB-4ABB-A1BD-2E1705DD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7832FF-E656-459E-AEED-31E5E49C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6E408-BF26-48DA-83E6-D9A8D2DF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D1109-021D-4436-B59B-E918CFA6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9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AC1D3-B2D9-4CAF-8244-B47902D7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8A0F8A-4429-492E-9D32-C6F58161F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5DFE8-1E87-4CFA-B8D2-DD0B429E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091558-B7F8-4228-8308-8EC79D65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A80B3-2F21-4299-ADCF-18C529BB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59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4F54-7FFE-42E9-9446-7D6A1193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16265-E7EA-4E35-9B3B-B4F2EA136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93E0EB-8D94-4E50-BE97-96E147E2B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EB43B7-8442-4889-8E4E-2485F81B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C1D90E-DC97-433F-8B6E-F28DEC64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5269EB-2F76-4C1C-954B-01DC3694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08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D4AF8-9D3F-4631-87E4-66EEB4F2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6F389-14B4-4438-8FC0-D68EC0BCA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52EA64-4263-42A1-BE0D-3BE6749C3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7F20AA-71E4-4696-86AA-98EE0CB12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66F84-9F3C-40B8-8436-628DCF7E8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E8A6F0-3F4D-490C-96EA-D28CC49B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697743-44EB-42AB-BC71-1E92724B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5FAC3F-F386-4715-A47E-FE5B60E1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62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5ABAC-D7DE-4A30-9864-A0A37A46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99C937-5442-4F1E-9ECF-BC4C3146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9E1B4F-B2C9-416C-8EF2-2C7AFC01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9DFC29-CF4B-4882-AD40-0A8C741E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6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782943-06BA-4757-AF9E-BF9916B8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DC2A3F-74B3-4494-8404-79E33922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985AE4-8F60-4076-9795-1F5BA685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87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21D7-F636-4F05-93B0-CC82D2372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323EE-8D83-4188-9217-048191A8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06FBF-16AC-4892-AC73-7AD65E223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691C64-D6DC-4B7A-9E2C-66A18ADC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8BBB8B-4581-4DB9-BC67-173A9128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01B404-60C3-4818-B99B-38777977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49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9BAC6-946D-4398-BE2D-23054AB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AFB1C5-7341-48E3-B405-B9CC7312A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825B74-02CD-437C-BC12-872DF9CE6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3A1108-3E94-47BD-8596-9458A779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27E73-DF27-4A76-9BF9-B17AEBBE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09477-1395-4BB9-BF48-34671F4A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4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545AC-D2FB-4276-90BC-5CFB7E13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13BAD4-EA38-4C3F-BE17-A9061ABD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DA258-5A79-48F2-88F3-D8B14D004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17A6-A169-411C-8C58-CDB04B75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F4286-9AAE-4662-9A63-2EE591E6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640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B522A5-A801-446E-A038-684EDCEE0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0D7A5B-3A2F-43F9-AD13-411C5E481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D80F7-32C8-4637-84FA-A6D4A80B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D59D84-375A-4A41-9621-409C6098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C021F-16A9-4E46-84EF-F7EF9F76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7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0E3A30-4189-4A39-8A90-F42EDE6D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99C8E-355F-4229-8363-2AD756BBE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7704C-6573-4A32-944D-AEC4657AB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6AD91F-1311-4815-9A0E-3EAD57345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54BEE-167F-4808-B590-1CE22C5A8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5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/>
          <p:nvPr/>
        </p:nvCxnSpPr>
        <p:spPr>
          <a:xfrm>
            <a:off x="796415" y="3429000"/>
            <a:ext cx="10382864" cy="0"/>
          </a:xfrm>
          <a:prstGeom prst="line">
            <a:avLst/>
          </a:prstGeom>
          <a:ln w="5715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7D056A-6397-1A84-4573-A3AED7B5F616}"/>
              </a:ext>
            </a:extLst>
          </p:cNvPr>
          <p:cNvSpPr txBox="1"/>
          <p:nvPr/>
        </p:nvSpPr>
        <p:spPr>
          <a:xfrm>
            <a:off x="722671" y="2521974"/>
            <a:ext cx="8281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KOREANA AIR </a:t>
            </a:r>
            <a:r>
              <a:rPr lang="ko-KR" altLang="en-US" sz="4000" dirty="0"/>
              <a:t>항공사 홈페이지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B7A9B7-7703-4B8A-92C4-EBCD06120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989" y="2272761"/>
            <a:ext cx="1206311" cy="12063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F4F307-93B4-4A85-BB02-87F1DFF267E4}"/>
              </a:ext>
            </a:extLst>
          </p:cNvPr>
          <p:cNvSpPr txBox="1"/>
          <p:nvPr/>
        </p:nvSpPr>
        <p:spPr>
          <a:xfrm>
            <a:off x="3708400" y="5391665"/>
            <a:ext cx="435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조원</a:t>
            </a:r>
            <a:r>
              <a:rPr lang="en-US" altLang="ko-KR" b="1" dirty="0"/>
              <a:t>: </a:t>
            </a:r>
            <a:r>
              <a:rPr lang="ko-KR" altLang="en-US" b="1" dirty="0" err="1"/>
              <a:t>김홍섭</a:t>
            </a:r>
            <a:r>
              <a:rPr lang="en-US" altLang="ko-KR" b="1" dirty="0"/>
              <a:t>, </a:t>
            </a:r>
            <a:r>
              <a:rPr lang="ko-KR" altLang="en-US" b="1" dirty="0" err="1"/>
              <a:t>남규민</a:t>
            </a:r>
            <a:r>
              <a:rPr lang="en-US" altLang="ko-KR" b="1" dirty="0"/>
              <a:t>, </a:t>
            </a:r>
            <a:r>
              <a:rPr lang="ko-KR" altLang="en-US" b="1" dirty="0"/>
              <a:t>심예진</a:t>
            </a:r>
            <a:r>
              <a:rPr lang="en-US" altLang="ko-KR" b="1" dirty="0"/>
              <a:t>, </a:t>
            </a:r>
            <a:r>
              <a:rPr lang="ko-KR" altLang="en-US" b="1" dirty="0"/>
              <a:t>이수현</a:t>
            </a:r>
          </a:p>
        </p:txBody>
      </p:sp>
    </p:spTree>
    <p:extLst>
      <p:ext uri="{BB962C8B-B14F-4D97-AF65-F5344CB8AC3E}">
        <p14:creationId xmlns:p14="http://schemas.microsoft.com/office/powerpoint/2010/main" val="330195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4380080" y="1459230"/>
            <a:ext cx="0" cy="3385542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1196874" y="2721114"/>
            <a:ext cx="23704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INDEX</a:t>
            </a:r>
            <a:endParaRPr lang="ko-KR" altLang="en-US" sz="5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C659D7-B149-FA89-7B62-03E4909C1A65}"/>
              </a:ext>
            </a:extLst>
          </p:cNvPr>
          <p:cNvSpPr txBox="1"/>
          <p:nvPr/>
        </p:nvSpPr>
        <p:spPr>
          <a:xfrm>
            <a:off x="4771514" y="1459230"/>
            <a:ext cx="44441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1. </a:t>
            </a:r>
            <a:r>
              <a:rPr lang="ko-KR" altLang="en-US" sz="3000" dirty="0"/>
              <a:t>구동환경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70E9A-67F4-CA06-A570-74E5D00FB26F}"/>
              </a:ext>
            </a:extLst>
          </p:cNvPr>
          <p:cNvSpPr txBox="1"/>
          <p:nvPr/>
        </p:nvSpPr>
        <p:spPr>
          <a:xfrm>
            <a:off x="4771514" y="2167116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2. </a:t>
            </a:r>
            <a:r>
              <a:rPr lang="ko-KR" altLang="en-US" sz="3000" dirty="0"/>
              <a:t>디자인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72002-267B-4233-97FB-A6C5B60DAB8C}"/>
              </a:ext>
            </a:extLst>
          </p:cNvPr>
          <p:cNvSpPr txBox="1"/>
          <p:nvPr/>
        </p:nvSpPr>
        <p:spPr>
          <a:xfrm>
            <a:off x="4771514" y="2875002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3. </a:t>
            </a:r>
            <a:r>
              <a:rPr lang="ko-KR" altLang="en-US" sz="3000" dirty="0"/>
              <a:t>레이아웃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D99DD-255B-4E50-B29D-3B659A225A5C}"/>
              </a:ext>
            </a:extLst>
          </p:cNvPr>
          <p:cNvSpPr txBox="1"/>
          <p:nvPr/>
        </p:nvSpPr>
        <p:spPr>
          <a:xfrm>
            <a:off x="4771514" y="3582888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4. Navigation</a:t>
            </a:r>
            <a:endParaRPr lang="ko-KR" alt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A32B3-C5B0-4612-A2AC-4DD7CCF6D781}"/>
              </a:ext>
            </a:extLst>
          </p:cNvPr>
          <p:cNvSpPr txBox="1"/>
          <p:nvPr/>
        </p:nvSpPr>
        <p:spPr>
          <a:xfrm>
            <a:off x="4771514" y="4290774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5. </a:t>
            </a:r>
            <a:r>
              <a:rPr lang="ko-KR" altLang="en-US" sz="3000" dirty="0"/>
              <a:t>구성요소 정의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5F7D64-7EB8-4D6B-AB3B-730FEA888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6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01 </a:t>
            </a:r>
            <a:r>
              <a:rPr lang="ko-KR" altLang="en-US" sz="3000" b="1" dirty="0"/>
              <a:t>구동환경</a:t>
            </a:r>
            <a:endParaRPr lang="ko-KR" altLang="en-US" sz="3000" b="1" dirty="0">
              <a:solidFill>
                <a:schemeClr val="accent5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340468" y="126422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515495" y="1373126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OS: Windows</a:t>
            </a:r>
            <a:endParaRPr lang="ko-KR" alt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515495" y="256464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Browser:</a:t>
            </a:r>
            <a:r>
              <a:rPr lang="ko-KR" altLang="en-US" sz="3000" dirty="0"/>
              <a:t> </a:t>
            </a:r>
            <a:r>
              <a:rPr lang="en-US" altLang="ko-KR" sz="3000" dirty="0"/>
              <a:t>Chrome</a:t>
            </a:r>
            <a:endParaRPr lang="ko-KR" altLang="en-US" sz="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515495" y="3756158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해상도</a:t>
            </a:r>
            <a:r>
              <a:rPr lang="en-US" altLang="ko-KR" sz="3000" dirty="0"/>
              <a:t>:1920px X 1080px</a:t>
            </a:r>
            <a:endParaRPr lang="ko-KR" altLang="en-US" sz="30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340468" y="242060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336515" y="362375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8D6FB45-E8C6-4283-9DED-525314CDB2A1}"/>
              </a:ext>
            </a:extLst>
          </p:cNvPr>
          <p:cNvSpPr/>
          <p:nvPr/>
        </p:nvSpPr>
        <p:spPr>
          <a:xfrm>
            <a:off x="1336515" y="4717831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CCA0E-D872-4103-AEC0-E2B66362CBAE}"/>
              </a:ext>
            </a:extLst>
          </p:cNvPr>
          <p:cNvSpPr txBox="1"/>
          <p:nvPr/>
        </p:nvSpPr>
        <p:spPr>
          <a:xfrm>
            <a:off x="2515495" y="4856082"/>
            <a:ext cx="94487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레이아웃</a:t>
            </a:r>
            <a:endParaRPr lang="en-US" altLang="ko-KR" sz="3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3BC17FF-49B7-4054-A64D-DB298C91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724CBE0-9B42-4F2F-A661-C3BF435A5767}"/>
              </a:ext>
            </a:extLst>
          </p:cNvPr>
          <p:cNvSpPr/>
          <p:nvPr/>
        </p:nvSpPr>
        <p:spPr>
          <a:xfrm>
            <a:off x="1480897" y="1192209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9B659B-C841-4C47-8245-62222BE73B17}"/>
              </a:ext>
            </a:extLst>
          </p:cNvPr>
          <p:cNvSpPr/>
          <p:nvPr/>
        </p:nvSpPr>
        <p:spPr>
          <a:xfrm>
            <a:off x="1464855" y="4673256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B7DB43-7976-483E-9407-C4AB6254BD3D}"/>
              </a:ext>
            </a:extLst>
          </p:cNvPr>
          <p:cNvSpPr/>
          <p:nvPr/>
        </p:nvSpPr>
        <p:spPr>
          <a:xfrm>
            <a:off x="1480897" y="3584808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03CA4C5-CD57-43E2-9170-47E3BCC69E25}"/>
              </a:ext>
            </a:extLst>
          </p:cNvPr>
          <p:cNvSpPr/>
          <p:nvPr/>
        </p:nvSpPr>
        <p:spPr>
          <a:xfrm>
            <a:off x="1480897" y="2376025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3E7EF-4250-4C5E-AD4D-53FE97F0E4B2}"/>
              </a:ext>
            </a:extLst>
          </p:cNvPr>
          <p:cNvSpPr txBox="1"/>
          <p:nvPr/>
        </p:nvSpPr>
        <p:spPr>
          <a:xfrm>
            <a:off x="2747171" y="5410080"/>
            <a:ext cx="59214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● 화면구조</a:t>
            </a:r>
            <a:endParaRPr lang="en-US" altLang="ko-KR" sz="1200" dirty="0"/>
          </a:p>
          <a:p>
            <a:r>
              <a:rPr lang="ko-KR" altLang="en-US" sz="1200" dirty="0"/>
              <a:t>● 상단메뉴</a:t>
            </a:r>
            <a:endParaRPr lang="en-US" altLang="ko-KR" sz="1200" dirty="0"/>
          </a:p>
          <a:p>
            <a:r>
              <a:rPr lang="ko-KR" altLang="en-US" sz="1200" dirty="0"/>
              <a:t>● </a:t>
            </a:r>
            <a:r>
              <a:rPr lang="en-US" altLang="ko-KR" sz="1200" dirty="0"/>
              <a:t>Navigation</a:t>
            </a:r>
          </a:p>
          <a:p>
            <a:r>
              <a:rPr lang="ko-KR" altLang="en-US" sz="1200" dirty="0"/>
              <a:t>● </a:t>
            </a:r>
            <a:r>
              <a:rPr lang="en-US" altLang="ko-KR" sz="1200" dirty="0"/>
              <a:t>Contents Area</a:t>
            </a:r>
          </a:p>
          <a:p>
            <a:r>
              <a:rPr lang="ko-KR" altLang="en-US" sz="1200" dirty="0"/>
              <a:t>●</a:t>
            </a:r>
            <a:r>
              <a:rPr lang="en-US" altLang="ko-KR" sz="1200" dirty="0"/>
              <a:t> Footer Area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7101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27747" y="2085474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2225565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347292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720279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27747" y="333479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27747" y="458412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C23A60-7E2A-473B-B14E-12E5C6FB5793}"/>
              </a:ext>
            </a:extLst>
          </p:cNvPr>
          <p:cNvSpPr/>
          <p:nvPr/>
        </p:nvSpPr>
        <p:spPr>
          <a:xfrm>
            <a:off x="1552133" y="2040899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F95AE2-4E90-4857-8ECF-F0DEF0D87CF2}"/>
              </a:ext>
            </a:extLst>
          </p:cNvPr>
          <p:cNvSpPr/>
          <p:nvPr/>
        </p:nvSpPr>
        <p:spPr>
          <a:xfrm>
            <a:off x="1552132" y="3288256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6C42D1-CC2F-49A5-871D-50792C528FEA}"/>
              </a:ext>
            </a:extLst>
          </p:cNvPr>
          <p:cNvSpPr/>
          <p:nvPr/>
        </p:nvSpPr>
        <p:spPr>
          <a:xfrm>
            <a:off x="1568296" y="4535613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396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로고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-1235242" y="2228671"/>
            <a:ext cx="12192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●  전통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미래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연결성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태극은 한국 정체성과 조화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비행기는 글로벌 비전과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 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이동성을 상징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두 요소의 교차는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KOREANA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항공의 철학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전통과 현대</a:t>
            </a:r>
            <a:endParaRPr lang="en-US" altLang="ko-KR" sz="25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역과 세계를 잇는 연결을 담고 있음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-1235242" y="5175748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●  로고는 </a:t>
            </a:r>
            <a:r>
              <a:rPr lang="en-US" altLang="ko-KR" sz="25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BrandCrowd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사이트를 참고하였음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F967E6-66AD-4B60-95B1-918ED320D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736" y="1883177"/>
            <a:ext cx="4329606" cy="432960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0" y="2228671"/>
            <a:ext cx="86466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●  폰트는 가독성을 높이기 위해 두개의 폰트만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사용하였다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                    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0" y="5175748"/>
            <a:ext cx="1095675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●  지원되는 폰트의 종류에 제약이 없어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Instrument Sans, Inter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두가지의</a:t>
            </a:r>
            <a:endParaRPr lang="en-US" altLang="ko-KR" sz="25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noProof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</a:t>
            </a:r>
            <a:r>
              <a:rPr lang="ko-KR" altLang="en-US" sz="2500" noProof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폰트를 사용하였다</a:t>
            </a:r>
            <a:r>
              <a:rPr lang="en-US" altLang="ko-KR" sz="2500" noProof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0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-1113886" y="2171963"/>
            <a:ext cx="1095675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●  사용자의 눈에 부담을 주지 않기 위해 단색 계열의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색상을 사용하였다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EFB474D-7BB7-4D96-AFE2-E91A3ED476E9}"/>
              </a:ext>
            </a:extLst>
          </p:cNvPr>
          <p:cNvSpPr/>
          <p:nvPr/>
        </p:nvSpPr>
        <p:spPr>
          <a:xfrm>
            <a:off x="3241546" y="3429000"/>
            <a:ext cx="1187116" cy="994606"/>
          </a:xfrm>
          <a:prstGeom prst="rect">
            <a:avLst/>
          </a:prstGeom>
          <a:solidFill>
            <a:srgbClr val="BCE4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472C4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286F5C-EE1F-4B79-99D8-1B033D695C2E}"/>
              </a:ext>
            </a:extLst>
          </p:cNvPr>
          <p:cNvSpPr/>
          <p:nvPr/>
        </p:nvSpPr>
        <p:spPr>
          <a:xfrm>
            <a:off x="4428662" y="3429000"/>
            <a:ext cx="1187116" cy="994606"/>
          </a:xfrm>
          <a:prstGeom prst="rect">
            <a:avLst/>
          </a:prstGeom>
          <a:solidFill>
            <a:srgbClr val="0517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4472C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0585F0-56C7-476D-B970-DA390C3AA15E}"/>
              </a:ext>
            </a:extLst>
          </p:cNvPr>
          <p:cNvSpPr/>
          <p:nvPr/>
        </p:nvSpPr>
        <p:spPr>
          <a:xfrm>
            <a:off x="5615778" y="3429000"/>
            <a:ext cx="1187116" cy="994606"/>
          </a:xfrm>
          <a:prstGeom prst="rect">
            <a:avLst/>
          </a:prstGeom>
          <a:solidFill>
            <a:srgbClr val="EFF3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472C4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968109-3015-4E4C-870E-74900B415A31}"/>
              </a:ext>
            </a:extLst>
          </p:cNvPr>
          <p:cNvSpPr/>
          <p:nvPr/>
        </p:nvSpPr>
        <p:spPr>
          <a:xfrm>
            <a:off x="6802894" y="3429000"/>
            <a:ext cx="1187116" cy="994606"/>
          </a:xfrm>
          <a:prstGeom prst="rect">
            <a:avLst/>
          </a:prstGeom>
          <a:solidFill>
            <a:srgbClr val="F7F7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472C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92F24-2D73-4CB3-ADF4-1C8CAE9C2DC8}"/>
              </a:ext>
            </a:extLst>
          </p:cNvPr>
          <p:cNvSpPr txBox="1"/>
          <p:nvPr/>
        </p:nvSpPr>
        <p:spPr>
          <a:xfrm>
            <a:off x="3241546" y="4376894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118</a:t>
            </a:r>
          </a:p>
          <a:p>
            <a:pPr algn="ctr"/>
            <a:r>
              <a:rPr lang="en-US" altLang="ko-KR" dirty="0"/>
              <a:t>G: 228</a:t>
            </a:r>
          </a:p>
          <a:p>
            <a:pPr algn="ctr"/>
            <a:r>
              <a:rPr lang="en-US" altLang="ko-KR" dirty="0"/>
              <a:t>B: 247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A7BA45-D544-4D91-BACD-52BBEEFAC08B}"/>
              </a:ext>
            </a:extLst>
          </p:cNvPr>
          <p:cNvSpPr txBox="1"/>
          <p:nvPr/>
        </p:nvSpPr>
        <p:spPr>
          <a:xfrm>
            <a:off x="4428662" y="4383095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5</a:t>
            </a:r>
          </a:p>
          <a:p>
            <a:pPr algn="ctr"/>
            <a:r>
              <a:rPr lang="en-US" altLang="ko-KR" dirty="0"/>
              <a:t>G:23 </a:t>
            </a:r>
          </a:p>
          <a:p>
            <a:pPr algn="ctr"/>
            <a:r>
              <a:rPr lang="en-US" altLang="ko-KR" dirty="0"/>
              <a:t>B: 102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C38DD-C9F5-42A1-9D6E-CD03376037D3}"/>
              </a:ext>
            </a:extLst>
          </p:cNvPr>
          <p:cNvSpPr txBox="1"/>
          <p:nvPr/>
        </p:nvSpPr>
        <p:spPr>
          <a:xfrm>
            <a:off x="5615778" y="4375110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239</a:t>
            </a:r>
          </a:p>
          <a:p>
            <a:pPr algn="ctr"/>
            <a:r>
              <a:rPr lang="en-US" altLang="ko-KR" dirty="0"/>
              <a:t>G: 243</a:t>
            </a:r>
          </a:p>
          <a:p>
            <a:pPr algn="ctr"/>
            <a:r>
              <a:rPr lang="en-US" altLang="ko-KR" dirty="0"/>
              <a:t>B: 253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FCA642-0416-4AD4-8548-8A50151131ED}"/>
              </a:ext>
            </a:extLst>
          </p:cNvPr>
          <p:cNvSpPr txBox="1"/>
          <p:nvPr/>
        </p:nvSpPr>
        <p:spPr>
          <a:xfrm>
            <a:off x="6802894" y="4367125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247</a:t>
            </a:r>
          </a:p>
          <a:p>
            <a:pPr algn="ctr"/>
            <a:r>
              <a:rPr lang="en-US" altLang="ko-KR" dirty="0"/>
              <a:t>G: 247</a:t>
            </a:r>
          </a:p>
          <a:p>
            <a:pPr algn="ctr"/>
            <a:r>
              <a:rPr lang="en-US" altLang="ko-KR" dirty="0"/>
              <a:t>B: 247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0449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solidFill>
                  <a:schemeClr val="accent5"/>
                </a:solidFill>
              </a:rPr>
              <a:t>02 </a:t>
            </a:r>
            <a:r>
              <a:rPr lang="ko-KR" altLang="en-US" sz="3000" b="1" dirty="0"/>
              <a:t>디자인 원칙</a:t>
            </a:r>
            <a:endParaRPr lang="ko-KR" altLang="en-US" sz="3000" b="1" dirty="0">
              <a:solidFill>
                <a:schemeClr val="accent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1683486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폰트 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287500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색상 조합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066518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이미지 사용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CCA0E-D872-4103-AEC0-E2B66362CBAE}"/>
              </a:ext>
            </a:extLst>
          </p:cNvPr>
          <p:cNvSpPr txBox="1"/>
          <p:nvPr/>
        </p:nvSpPr>
        <p:spPr>
          <a:xfrm>
            <a:off x="2630905" y="5137369"/>
            <a:ext cx="81333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상세한 </a:t>
            </a:r>
            <a:r>
              <a:rPr lang="en-US" altLang="ko-KR" sz="3000" dirty="0"/>
              <a:t>UI </a:t>
            </a:r>
            <a:r>
              <a:rPr lang="ko-KR" altLang="en-US" sz="3000" dirty="0"/>
              <a:t>가이드라인</a:t>
            </a:r>
            <a:endParaRPr lang="en-US" altLang="ko-KR" sz="3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3BC17FF-49B7-4054-A64D-DB298C91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A3FF25D0-DEA3-4996-8C40-3FE7F74D2DBC}"/>
              </a:ext>
            </a:extLst>
          </p:cNvPr>
          <p:cNvSpPr/>
          <p:nvPr/>
        </p:nvSpPr>
        <p:spPr>
          <a:xfrm>
            <a:off x="1455878" y="157458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8B4C4E1-2431-449F-9015-E2F0FBD3A492}"/>
              </a:ext>
            </a:extLst>
          </p:cNvPr>
          <p:cNvSpPr/>
          <p:nvPr/>
        </p:nvSpPr>
        <p:spPr>
          <a:xfrm>
            <a:off x="1455878" y="273096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E4AB592-9C69-4D41-85B5-893B233F0FD1}"/>
              </a:ext>
            </a:extLst>
          </p:cNvPr>
          <p:cNvSpPr/>
          <p:nvPr/>
        </p:nvSpPr>
        <p:spPr>
          <a:xfrm>
            <a:off x="1451925" y="393411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CD1FCBC-31B8-4BDC-BF22-7EB758B490CF}"/>
              </a:ext>
            </a:extLst>
          </p:cNvPr>
          <p:cNvSpPr/>
          <p:nvPr/>
        </p:nvSpPr>
        <p:spPr>
          <a:xfrm>
            <a:off x="1451925" y="5028191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AFF306-C22D-4CB8-8DC7-86DBCADB1612}"/>
              </a:ext>
            </a:extLst>
          </p:cNvPr>
          <p:cNvSpPr/>
          <p:nvPr/>
        </p:nvSpPr>
        <p:spPr>
          <a:xfrm>
            <a:off x="1596307" y="1502569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6C55B5-BA7B-4851-8358-9CFE8C2036AF}"/>
              </a:ext>
            </a:extLst>
          </p:cNvPr>
          <p:cNvSpPr/>
          <p:nvPr/>
        </p:nvSpPr>
        <p:spPr>
          <a:xfrm>
            <a:off x="1580265" y="4983616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CE72E55-B599-43B6-84F3-7D01AA638084}"/>
              </a:ext>
            </a:extLst>
          </p:cNvPr>
          <p:cNvSpPr/>
          <p:nvPr/>
        </p:nvSpPr>
        <p:spPr>
          <a:xfrm>
            <a:off x="1596307" y="3895168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A1BEE7E-0E96-4443-9AF2-D343BED6B137}"/>
              </a:ext>
            </a:extLst>
          </p:cNvPr>
          <p:cNvSpPr/>
          <p:nvPr/>
        </p:nvSpPr>
        <p:spPr>
          <a:xfrm>
            <a:off x="1596307" y="2686385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964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C7D83FB-5AFE-476C-8B51-6A7F75B93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579" y="1332968"/>
            <a:ext cx="3506265" cy="47460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25EE263-C118-49B7-A3D1-D02BF0BB5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288" y="1332967"/>
            <a:ext cx="3714757" cy="4746019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D7814-930F-40DF-A15D-CD783B5718D4}"/>
              </a:ext>
            </a:extLst>
          </p:cNvPr>
          <p:cNvSpPr txBox="1"/>
          <p:nvPr/>
        </p:nvSpPr>
        <p:spPr>
          <a:xfrm>
            <a:off x="2510153" y="6159287"/>
            <a:ext cx="245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메인페이지</a:t>
            </a:r>
            <a:r>
              <a:rPr lang="ko-KR" altLang="en-US" dirty="0"/>
              <a:t> 레이아웃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ECE204-122C-4E64-9EE0-C2B8A25E5E0F}"/>
              </a:ext>
            </a:extLst>
          </p:cNvPr>
          <p:cNvSpPr txBox="1"/>
          <p:nvPr/>
        </p:nvSpPr>
        <p:spPr>
          <a:xfrm>
            <a:off x="7171710" y="6159287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서브페이지 레이아웃</a:t>
            </a:r>
          </a:p>
        </p:txBody>
      </p:sp>
    </p:spTree>
    <p:extLst>
      <p:ext uri="{BB962C8B-B14F-4D97-AF65-F5344CB8AC3E}">
        <p14:creationId xmlns:p14="http://schemas.microsoft.com/office/powerpoint/2010/main" val="278136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- Header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396AB0D-7BDC-48A9-850A-055A590EDB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0" r="17544"/>
          <a:stretch/>
        </p:blipFill>
        <p:spPr>
          <a:xfrm>
            <a:off x="1581705" y="1414538"/>
            <a:ext cx="9028590" cy="7186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F1CE478B-4B16-48A0-BDC1-93BD441C8570}"/>
              </a:ext>
            </a:extLst>
          </p:cNvPr>
          <p:cNvGraphicFramePr>
            <a:graphicFrameLocks noGrp="1"/>
          </p:cNvGraphicFramePr>
          <p:nvPr/>
        </p:nvGraphicFramePr>
        <p:xfrm>
          <a:off x="2184400" y="4444377"/>
          <a:ext cx="7823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>
                  <a:extLst>
                    <a:ext uri="{9D8B030D-6E8A-4147-A177-3AD203B41FA5}">
                      <a16:colId xmlns:a16="http://schemas.microsoft.com/office/drawing/2014/main" val="2365526896"/>
                    </a:ext>
                  </a:extLst>
                </a:gridCol>
                <a:gridCol w="6142990">
                  <a:extLst>
                    <a:ext uri="{9D8B030D-6E8A-4147-A177-3AD203B41FA5}">
                      <a16:colId xmlns:a16="http://schemas.microsoft.com/office/drawing/2014/main" val="923287061"/>
                    </a:ext>
                  </a:extLst>
                </a:gridCol>
              </a:tblGrid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62569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상단메뉴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마우스 커서 이동 시 세부 카테고리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62272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카테고리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‘</a:t>
                      </a:r>
                      <a:r>
                        <a:rPr lang="en-US" altLang="ko-KR" dirty="0" err="1"/>
                        <a:t>Koreana</a:t>
                      </a:r>
                      <a:r>
                        <a:rPr lang="ko-KR" altLang="en-US" dirty="0"/>
                        <a:t>에 대하여</a:t>
                      </a:r>
                      <a:r>
                        <a:rPr lang="en-US" altLang="ko-KR" dirty="0"/>
                        <a:t>’</a:t>
                      </a:r>
                      <a:r>
                        <a:rPr lang="ko-KR" altLang="en-US" dirty="0"/>
                        <a:t> 페이지로 이동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마일리지 예매 마우스 커서 이동 시 세부 내용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32289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페이지로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454735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이벤트 페이지로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805035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B8C208-BD61-4918-88B0-3417328AA27C}"/>
              </a:ext>
            </a:extLst>
          </p:cNvPr>
          <p:cNvSpPr/>
          <p:nvPr/>
        </p:nvSpPr>
        <p:spPr>
          <a:xfrm>
            <a:off x="4188694" y="1826344"/>
            <a:ext cx="4770581" cy="302909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6E996DD-8FCA-409D-B337-7C705A2AFF8F}"/>
              </a:ext>
            </a:extLst>
          </p:cNvPr>
          <p:cNvCxnSpPr/>
          <p:nvPr/>
        </p:nvCxnSpPr>
        <p:spPr>
          <a:xfrm>
            <a:off x="5911272" y="1456779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062067-55EF-4670-9C7D-39475766CA81}"/>
              </a:ext>
            </a:extLst>
          </p:cNvPr>
          <p:cNvSpPr txBox="1"/>
          <p:nvPr/>
        </p:nvSpPr>
        <p:spPr>
          <a:xfrm>
            <a:off x="5459866" y="113514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/>
                </a:solidFill>
              </a:rPr>
              <a:t>상단메뉴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C847A17-D7A5-4139-8719-8E7CC4804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42" y="2192484"/>
            <a:ext cx="4715533" cy="2095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519458-FA80-40DB-B653-27A4E04B7E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6"/>
          <a:stretch/>
        </p:blipFill>
        <p:spPr>
          <a:xfrm>
            <a:off x="6362677" y="2335914"/>
            <a:ext cx="4715533" cy="20250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D1D294D-9B3D-4EE0-878B-C101A18EC267}"/>
              </a:ext>
            </a:extLst>
          </p:cNvPr>
          <p:cNvCxnSpPr/>
          <p:nvPr/>
        </p:nvCxnSpPr>
        <p:spPr>
          <a:xfrm flipH="1">
            <a:off x="10367840" y="1960542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A15227D-1BB1-4CBC-BBAD-5001D3CF1513}"/>
              </a:ext>
            </a:extLst>
          </p:cNvPr>
          <p:cNvSpPr txBox="1"/>
          <p:nvPr/>
        </p:nvSpPr>
        <p:spPr>
          <a:xfrm>
            <a:off x="10897198" y="180665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2"/>
                </a:solidFill>
              </a:rPr>
              <a:t>회원메뉴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BB1A72B-E6F5-4978-ABDA-A8D53F782C81}"/>
              </a:ext>
            </a:extLst>
          </p:cNvPr>
          <p:cNvSpPr/>
          <p:nvPr/>
        </p:nvSpPr>
        <p:spPr>
          <a:xfrm>
            <a:off x="8728365" y="1478220"/>
            <a:ext cx="360216" cy="173114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6E781A9-A1D3-414C-8108-DBA87F2487CB}"/>
              </a:ext>
            </a:extLst>
          </p:cNvPr>
          <p:cNvCxnSpPr/>
          <p:nvPr/>
        </p:nvCxnSpPr>
        <p:spPr>
          <a:xfrm>
            <a:off x="8922331" y="1087327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D3D8B6A-ECC5-4603-B6CD-FFFA2EFD944F}"/>
              </a:ext>
            </a:extLst>
          </p:cNvPr>
          <p:cNvSpPr txBox="1"/>
          <p:nvPr/>
        </p:nvSpPr>
        <p:spPr>
          <a:xfrm>
            <a:off x="8457067" y="80730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2"/>
                </a:solidFill>
              </a:rPr>
              <a:t>추가메뉴</a:t>
            </a:r>
          </a:p>
        </p:txBody>
      </p:sp>
    </p:spTree>
    <p:extLst>
      <p:ext uri="{BB962C8B-B14F-4D97-AF65-F5344CB8AC3E}">
        <p14:creationId xmlns:p14="http://schemas.microsoft.com/office/powerpoint/2010/main" val="314658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Contents Area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EAFDD0-C272-9ED3-0151-95A5EAE7DB2B}"/>
              </a:ext>
            </a:extLst>
          </p:cNvPr>
          <p:cNvSpPr txBox="1"/>
          <p:nvPr/>
        </p:nvSpPr>
        <p:spPr>
          <a:xfrm>
            <a:off x="819066" y="1672023"/>
            <a:ext cx="74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항공편 조회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C0EDB-6EEF-C181-588C-C222726B0AC1}"/>
              </a:ext>
            </a:extLst>
          </p:cNvPr>
          <p:cNvSpPr txBox="1"/>
          <p:nvPr/>
        </p:nvSpPr>
        <p:spPr>
          <a:xfrm>
            <a:off x="513806" y="3385369"/>
            <a:ext cx="1054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홍보 및 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공지</a:t>
            </a:r>
            <a:r>
              <a:rPr lang="en-US" altLang="ko-KR" sz="1200" dirty="0">
                <a:solidFill>
                  <a:schemeClr val="accent2"/>
                </a:solidFill>
              </a:rPr>
              <a:t> </a:t>
            </a:r>
            <a:r>
              <a:rPr lang="ko-KR" altLang="en-US" sz="1200" dirty="0">
                <a:solidFill>
                  <a:schemeClr val="accent2"/>
                </a:solidFill>
              </a:rPr>
              <a:t>리스트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775667-EEEC-F718-5E2B-367D7F9F243B}"/>
              </a:ext>
            </a:extLst>
          </p:cNvPr>
          <p:cNvSpPr txBox="1"/>
          <p:nvPr/>
        </p:nvSpPr>
        <p:spPr>
          <a:xfrm>
            <a:off x="627534" y="4965106"/>
            <a:ext cx="86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여행 관련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서비스</a:t>
            </a:r>
            <a:endParaRPr lang="en-US" altLang="ko-KR" sz="1200" dirty="0">
              <a:solidFill>
                <a:schemeClr val="accent2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04AA77C-3D00-4E16-9207-FE6064F9A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402" y="1437402"/>
            <a:ext cx="4411981" cy="51379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9677EB-F81E-42E9-99FE-45F904B0347F}"/>
              </a:ext>
            </a:extLst>
          </p:cNvPr>
          <p:cNvSpPr/>
          <p:nvPr/>
        </p:nvSpPr>
        <p:spPr>
          <a:xfrm>
            <a:off x="1981483" y="1373126"/>
            <a:ext cx="4566217" cy="100651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028F270-269E-41CB-85D5-6B4C89387274}"/>
              </a:ext>
            </a:extLst>
          </p:cNvPr>
          <p:cNvSpPr/>
          <p:nvPr/>
        </p:nvSpPr>
        <p:spPr>
          <a:xfrm>
            <a:off x="1981483" y="2488664"/>
            <a:ext cx="4566217" cy="2205215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215BF7-B87E-4A62-B3C9-FA852BD218E4}"/>
              </a:ext>
            </a:extLst>
          </p:cNvPr>
          <p:cNvSpPr/>
          <p:nvPr/>
        </p:nvSpPr>
        <p:spPr>
          <a:xfrm>
            <a:off x="1981483" y="4758156"/>
            <a:ext cx="4566217" cy="875566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DFA74A-C776-4171-ABBF-13F99EB98A84}"/>
              </a:ext>
            </a:extLst>
          </p:cNvPr>
          <p:cNvSpPr/>
          <p:nvPr/>
        </p:nvSpPr>
        <p:spPr>
          <a:xfrm>
            <a:off x="1981483" y="5697999"/>
            <a:ext cx="4566217" cy="986356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DBF498C-0E0B-4444-9673-E12151D56A08}"/>
              </a:ext>
            </a:extLst>
          </p:cNvPr>
          <p:cNvCxnSpPr/>
          <p:nvPr/>
        </p:nvCxnSpPr>
        <p:spPr>
          <a:xfrm flipH="1">
            <a:off x="1496574" y="1902856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9D6FA04-DAAB-44DC-9330-CCED0319C044}"/>
              </a:ext>
            </a:extLst>
          </p:cNvPr>
          <p:cNvCxnSpPr/>
          <p:nvPr/>
        </p:nvCxnSpPr>
        <p:spPr>
          <a:xfrm flipH="1">
            <a:off x="1496574" y="3616202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10470CC-9911-4D18-9C6F-2D2E3E65CEF4}"/>
              </a:ext>
            </a:extLst>
          </p:cNvPr>
          <p:cNvCxnSpPr/>
          <p:nvPr/>
        </p:nvCxnSpPr>
        <p:spPr>
          <a:xfrm flipH="1">
            <a:off x="1496574" y="5200238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56B553D-5133-4E91-A8DC-279A8292910F}"/>
              </a:ext>
            </a:extLst>
          </p:cNvPr>
          <p:cNvCxnSpPr/>
          <p:nvPr/>
        </p:nvCxnSpPr>
        <p:spPr>
          <a:xfrm flipH="1">
            <a:off x="1496574" y="6220856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5C07FB-A1B6-477C-9E99-F963FAB3AC72}"/>
              </a:ext>
            </a:extLst>
          </p:cNvPr>
          <p:cNvSpPr txBox="1"/>
          <p:nvPr/>
        </p:nvSpPr>
        <p:spPr>
          <a:xfrm>
            <a:off x="334075" y="6082356"/>
            <a:ext cx="116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하단 카테고리</a:t>
            </a:r>
          </a:p>
        </p:txBody>
      </p:sp>
      <p:graphicFrame>
        <p:nvGraphicFramePr>
          <p:cNvPr id="30" name="표 30">
            <a:extLst>
              <a:ext uri="{FF2B5EF4-FFF2-40B4-BE49-F238E27FC236}">
                <a16:creationId xmlns:a16="http://schemas.microsoft.com/office/drawing/2014/main" id="{FC5953CA-E814-4A3E-94AD-BB987B18BA02}"/>
              </a:ext>
            </a:extLst>
          </p:cNvPr>
          <p:cNvGraphicFramePr>
            <a:graphicFrameLocks noGrp="1"/>
          </p:cNvGraphicFramePr>
          <p:nvPr/>
        </p:nvGraphicFramePr>
        <p:xfrm>
          <a:off x="6998249" y="2345863"/>
          <a:ext cx="4566217" cy="3321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528">
                  <a:extLst>
                    <a:ext uri="{9D8B030D-6E8A-4147-A177-3AD203B41FA5}">
                      <a16:colId xmlns:a16="http://schemas.microsoft.com/office/drawing/2014/main" val="3220769797"/>
                    </a:ext>
                  </a:extLst>
                </a:gridCol>
                <a:gridCol w="2925689">
                  <a:extLst>
                    <a:ext uri="{9D8B030D-6E8A-4147-A177-3AD203B41FA5}">
                      <a16:colId xmlns:a16="http://schemas.microsoft.com/office/drawing/2014/main" val="1592297759"/>
                    </a:ext>
                  </a:extLst>
                </a:gridCol>
              </a:tblGrid>
              <a:tr h="4201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336645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항공편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도착지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날짜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인원 입력 후 탑승 가능 항공편 조회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342297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홍보 및 공지 리스트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진행중인 기획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 err="1"/>
                        <a:t>홍보문</a:t>
                      </a:r>
                      <a:r>
                        <a:rPr lang="ko-KR" altLang="en-US" dirty="0"/>
                        <a:t> 및 안내사항 </a:t>
                      </a:r>
                      <a:r>
                        <a:rPr lang="ko-KR" altLang="en-US" dirty="0" err="1"/>
                        <a:t>게시란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166411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여행 관련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여행 관련 서비스 지원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업무 카테고리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123138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하단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카테고리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부가적인 정보 안내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61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840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E75C-2034-BFC9-0592-DB0E1B828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4A46143-F792-C531-460B-0E1A248E7EE2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7A20F09-DBFE-A877-391E-BAA5DFA4FE25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Footer Area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432057-44F1-41B5-B709-D25E57D43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8" name="그림 7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6F34ED-4A08-A9E0-224C-338FE3C8A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" t="63336" r="5075"/>
          <a:stretch>
            <a:fillRect/>
          </a:stretch>
        </p:blipFill>
        <p:spPr>
          <a:xfrm>
            <a:off x="1040799" y="1769814"/>
            <a:ext cx="9972749" cy="17736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4B925F0-3E4F-42B5-8988-40F26438EF85}"/>
              </a:ext>
            </a:extLst>
          </p:cNvPr>
          <p:cNvGraphicFramePr>
            <a:graphicFrameLocks noGrp="1"/>
          </p:cNvGraphicFramePr>
          <p:nvPr/>
        </p:nvGraphicFramePr>
        <p:xfrm>
          <a:off x="1767076" y="4601497"/>
          <a:ext cx="8865200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698">
                  <a:extLst>
                    <a:ext uri="{9D8B030D-6E8A-4147-A177-3AD203B41FA5}">
                      <a16:colId xmlns:a16="http://schemas.microsoft.com/office/drawing/2014/main" val="920101252"/>
                    </a:ext>
                  </a:extLst>
                </a:gridCol>
                <a:gridCol w="6841502">
                  <a:extLst>
                    <a:ext uri="{9D8B030D-6E8A-4147-A177-3AD203B41FA5}">
                      <a16:colId xmlns:a16="http://schemas.microsoft.com/office/drawing/2014/main" val="2540060926"/>
                    </a:ext>
                  </a:extLst>
                </a:gridCol>
              </a:tblGrid>
              <a:tr h="2161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423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운영 </a:t>
                      </a:r>
                      <a:r>
                        <a:rPr lang="en-US" altLang="ko-KR" dirty="0"/>
                        <a:t>SNS </a:t>
                      </a:r>
                      <a:r>
                        <a:rPr lang="ko-KR" altLang="en-US" dirty="0"/>
                        <a:t>및 어플 설치 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기업이 현재 운영 중인 </a:t>
                      </a:r>
                      <a:r>
                        <a:rPr lang="en-US" altLang="ko-KR" dirty="0"/>
                        <a:t>SNS </a:t>
                      </a:r>
                      <a:r>
                        <a:rPr lang="ko-KR" altLang="en-US" dirty="0"/>
                        <a:t>표시 및 설치 가능 스토어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883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기업정보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기업의 기본 정보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161096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45B42D-72D7-338D-39A2-8001DFA6C9A3}"/>
              </a:ext>
            </a:extLst>
          </p:cNvPr>
          <p:cNvSpPr/>
          <p:nvPr/>
        </p:nvSpPr>
        <p:spPr>
          <a:xfrm>
            <a:off x="1281076" y="2069570"/>
            <a:ext cx="4432600" cy="42222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4532BE-E9B4-717F-658D-51924208DF49}"/>
              </a:ext>
            </a:extLst>
          </p:cNvPr>
          <p:cNvSpPr txBox="1"/>
          <p:nvPr/>
        </p:nvSpPr>
        <p:spPr>
          <a:xfrm>
            <a:off x="6199676" y="2109325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운영 </a:t>
            </a:r>
            <a:r>
              <a:rPr lang="en-US" altLang="ko-KR" sz="1200" dirty="0">
                <a:solidFill>
                  <a:schemeClr val="accent2"/>
                </a:solidFill>
              </a:rPr>
              <a:t>SNS </a:t>
            </a:r>
            <a:r>
              <a:rPr lang="ko-KR" altLang="en-US" sz="1200" dirty="0">
                <a:solidFill>
                  <a:schemeClr val="accent2"/>
                </a:solidFill>
              </a:rPr>
              <a:t>및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어플 설치 플랫폼</a:t>
            </a:r>
            <a:endParaRPr lang="en-US" altLang="ko-KR" sz="1200" dirty="0">
              <a:solidFill>
                <a:schemeClr val="accent2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087587-1BFB-3DEC-71E3-A930063B5606}"/>
              </a:ext>
            </a:extLst>
          </p:cNvPr>
          <p:cNvSpPr/>
          <p:nvPr/>
        </p:nvSpPr>
        <p:spPr>
          <a:xfrm>
            <a:off x="1281076" y="2551762"/>
            <a:ext cx="2471721" cy="87912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D740B36-F76D-A86D-5DB9-1D2EA5729E64}"/>
              </a:ext>
            </a:extLst>
          </p:cNvPr>
          <p:cNvCxnSpPr/>
          <p:nvPr/>
        </p:nvCxnSpPr>
        <p:spPr>
          <a:xfrm>
            <a:off x="5713676" y="2300402"/>
            <a:ext cx="486000" cy="718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09D2F0-B6A4-F323-9177-AB62A9C459AA}"/>
              </a:ext>
            </a:extLst>
          </p:cNvPr>
          <p:cNvSpPr txBox="1"/>
          <p:nvPr/>
        </p:nvSpPr>
        <p:spPr>
          <a:xfrm>
            <a:off x="2075218" y="3810756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기업정보 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D29774C-0D87-F62C-FA9E-DD919D5E93AD}"/>
              </a:ext>
            </a:extLst>
          </p:cNvPr>
          <p:cNvCxnSpPr/>
          <p:nvPr/>
        </p:nvCxnSpPr>
        <p:spPr>
          <a:xfrm>
            <a:off x="2502580" y="3441512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626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</a:t>
            </a:r>
            <a:endParaRPr lang="ko-KR" altLang="en-US" sz="30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A966789-CB28-4CF4-9786-0E80CCCB0795}"/>
              </a:ext>
            </a:extLst>
          </p:cNvPr>
          <p:cNvSpPr/>
          <p:nvPr/>
        </p:nvSpPr>
        <p:spPr>
          <a:xfrm>
            <a:off x="742208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884F62D-7A51-4241-A177-216C5248CF6D}"/>
              </a:ext>
            </a:extLst>
          </p:cNvPr>
          <p:cNvSpPr/>
          <p:nvPr/>
        </p:nvSpPr>
        <p:spPr>
          <a:xfrm>
            <a:off x="4082977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D2BFAA-59F4-4820-BA8B-27EDD6F30862}"/>
              </a:ext>
            </a:extLst>
          </p:cNvPr>
          <p:cNvSpPr txBox="1"/>
          <p:nvPr/>
        </p:nvSpPr>
        <p:spPr>
          <a:xfrm>
            <a:off x="1576398" y="1948564"/>
            <a:ext cx="25065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간편한 구조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79CBB3-6736-4F9F-A648-975F9FFB0379}"/>
              </a:ext>
            </a:extLst>
          </p:cNvPr>
          <p:cNvSpPr txBox="1"/>
          <p:nvPr/>
        </p:nvSpPr>
        <p:spPr>
          <a:xfrm>
            <a:off x="4917167" y="1948563"/>
            <a:ext cx="24254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시각적 힌트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tka Subheading" panose="02000505000000020004" pitchFamily="2" charset="0"/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494B1B2-06B3-4162-A9A4-CC6F412C3030}"/>
              </a:ext>
            </a:extLst>
          </p:cNvPr>
          <p:cNvSpPr/>
          <p:nvPr/>
        </p:nvSpPr>
        <p:spPr>
          <a:xfrm>
            <a:off x="7423746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06BA7A-E191-4391-8166-3A88201C3201}"/>
              </a:ext>
            </a:extLst>
          </p:cNvPr>
          <p:cNvSpPr txBox="1"/>
          <p:nvPr/>
        </p:nvSpPr>
        <p:spPr>
          <a:xfrm>
            <a:off x="8281478" y="1948563"/>
            <a:ext cx="31963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시각적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 최적화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5146E8-BD12-46F7-BBB4-699BE5782AC7}"/>
              </a:ext>
            </a:extLst>
          </p:cNvPr>
          <p:cNvSpPr txBox="1"/>
          <p:nvPr/>
        </p:nvSpPr>
        <p:spPr>
          <a:xfrm>
            <a:off x="760964" y="3676739"/>
            <a:ext cx="2923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웹 사이트를 쉽게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탐색할 수 있도록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단순하고 직관적인 네비게이션 구조를 설계했습니다</a:t>
            </a:r>
            <a:r>
              <a:rPr lang="en-US" altLang="ko-KR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8BB30A-9EAF-4E31-961B-9B78546B269A}"/>
              </a:ext>
            </a:extLst>
          </p:cNvPr>
          <p:cNvSpPr txBox="1"/>
          <p:nvPr/>
        </p:nvSpPr>
        <p:spPr>
          <a:xfrm>
            <a:off x="4135887" y="3676739"/>
            <a:ext cx="2923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현재 위치를 파악할 수 있도록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활성화된 메뉴 항목을 시각적으로 강조했습니다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6B4354-CB0E-4826-9D05-3EC472CA5B00}"/>
              </a:ext>
            </a:extLst>
          </p:cNvPr>
          <p:cNvSpPr txBox="1"/>
          <p:nvPr/>
        </p:nvSpPr>
        <p:spPr>
          <a:xfrm>
            <a:off x="7621035" y="3676739"/>
            <a:ext cx="3026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사이트를 이용하기에 시각적으로 심플하면서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직관적인 구조를 설계했습니다</a:t>
            </a:r>
            <a:r>
              <a:rPr lang="en-US" altLang="ko-KR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B65B80F4-1EF9-4C58-A52C-2166571CB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4000E14-239C-46F7-888A-57EA6154A320}"/>
              </a:ext>
            </a:extLst>
          </p:cNvPr>
          <p:cNvSpPr/>
          <p:nvPr/>
        </p:nvSpPr>
        <p:spPr>
          <a:xfrm>
            <a:off x="722186" y="1743530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42CE51-3493-40F2-9D1B-F46F5BAF9C8D}"/>
              </a:ext>
            </a:extLst>
          </p:cNvPr>
          <p:cNvSpPr/>
          <p:nvPr/>
        </p:nvSpPr>
        <p:spPr>
          <a:xfrm>
            <a:off x="7432933" y="1743530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F3885F-AD53-4031-B736-7FE94E212F3A}"/>
              </a:ext>
            </a:extLst>
          </p:cNvPr>
          <p:cNvSpPr/>
          <p:nvPr/>
        </p:nvSpPr>
        <p:spPr>
          <a:xfrm>
            <a:off x="4062954" y="1719536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92670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 - Header</a:t>
            </a:r>
            <a:endParaRPr lang="ko-KR" altLang="en-US" sz="3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E2B59C-6248-4D10-A576-A5EC0A523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C17E9E2-732B-4F86-90EB-A26570DB4E4F}"/>
              </a:ext>
            </a:extLst>
          </p:cNvPr>
          <p:cNvCxnSpPr>
            <a:cxnSpLocks/>
          </p:cNvCxnSpPr>
          <p:nvPr/>
        </p:nvCxnSpPr>
        <p:spPr>
          <a:xfrm>
            <a:off x="108539" y="3510503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E5B354A-D982-4FE4-BB65-F5E6151CA859}"/>
              </a:ext>
            </a:extLst>
          </p:cNvPr>
          <p:cNvSpPr txBox="1"/>
          <p:nvPr/>
        </p:nvSpPr>
        <p:spPr>
          <a:xfrm>
            <a:off x="309715" y="2783915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 – Contents Area</a:t>
            </a:r>
            <a:endParaRPr lang="ko-KR" altLang="en-US" sz="3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1E933D-50CF-4656-8845-C68658AE74B5}"/>
              </a:ext>
            </a:extLst>
          </p:cNvPr>
          <p:cNvSpPr/>
          <p:nvPr/>
        </p:nvSpPr>
        <p:spPr>
          <a:xfrm>
            <a:off x="1114072" y="1595577"/>
            <a:ext cx="2363903" cy="753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50065E4-4F61-4ED5-AA9D-261DD3AB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508" y="1638804"/>
            <a:ext cx="2149032" cy="69527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04852790-1FEA-4B01-9A38-505C2714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93" y="1711252"/>
            <a:ext cx="1107990" cy="553995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8C383D-843B-4369-B9F1-7F090B296CF3}"/>
              </a:ext>
            </a:extLst>
          </p:cNvPr>
          <p:cNvSpPr/>
          <p:nvPr/>
        </p:nvSpPr>
        <p:spPr>
          <a:xfrm>
            <a:off x="5174898" y="1580655"/>
            <a:ext cx="1181952" cy="76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5CB41F4-8DEC-49D7-BCCE-1B385524E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121" y="1617123"/>
            <a:ext cx="1558600" cy="716956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5D4A43-E45B-4138-8AE8-ED9C69AE248F}"/>
              </a:ext>
            </a:extLst>
          </p:cNvPr>
          <p:cNvSpPr/>
          <p:nvPr/>
        </p:nvSpPr>
        <p:spPr>
          <a:xfrm>
            <a:off x="8186122" y="1598659"/>
            <a:ext cx="1558599" cy="76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696E452-EAD9-4CE7-98A6-1BBA3A6E7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072" y="3649248"/>
            <a:ext cx="7451661" cy="793534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06C57AC-7CA8-4830-A424-9DE8768EA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625" y="4481414"/>
            <a:ext cx="9391650" cy="8555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083DEE-896D-4296-91C4-C7E96521FF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1508" y="5482524"/>
            <a:ext cx="5566520" cy="117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15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구성요소 정의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5EB3FE35-37F9-42C8-B197-50CF8006D305}"/>
              </a:ext>
            </a:extLst>
          </p:cNvPr>
          <p:cNvGraphicFramePr>
            <a:graphicFrameLocks noGrp="1"/>
          </p:cNvGraphicFramePr>
          <p:nvPr/>
        </p:nvGraphicFramePr>
        <p:xfrm>
          <a:off x="451637" y="1262713"/>
          <a:ext cx="11288726" cy="5265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855">
                  <a:extLst>
                    <a:ext uri="{9D8B030D-6E8A-4147-A177-3AD203B41FA5}">
                      <a16:colId xmlns:a16="http://schemas.microsoft.com/office/drawing/2014/main" val="3430678741"/>
                    </a:ext>
                  </a:extLst>
                </a:gridCol>
                <a:gridCol w="8777871">
                  <a:extLst>
                    <a:ext uri="{9D8B030D-6E8A-4147-A177-3AD203B41FA5}">
                      <a16:colId xmlns:a16="http://schemas.microsoft.com/office/drawing/2014/main" val="2178654916"/>
                    </a:ext>
                  </a:extLst>
                </a:gridCol>
              </a:tblGrid>
              <a:tr h="72155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버튼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설정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064189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메인 화면으로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153147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KOREANA </a:t>
                      </a:r>
                      <a:r>
                        <a:rPr lang="ko-KR" altLang="en-US" dirty="0"/>
                        <a:t>항공에 대한 설명페이지로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954586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예약과 관련된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정보를 나열하는 화면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900929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여행준비와 관련된 정보를 나열하는 화면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003596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화면으로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148240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진행중인 이벤트에 관한 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493717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 페이지의 언어 설정을 변경할 수 있는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097495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키워드별로 정리한 고객들의 요구사항을 볼 수 있는 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651380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CC4027D9-3AD1-4B19-AF02-A2DE38328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268" y="2597315"/>
            <a:ext cx="1134696" cy="4662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ADA6A7-8CA0-476B-9A95-92D86CCC1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511" y="3176235"/>
            <a:ext cx="735353" cy="45742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0CF2DFC-28A2-4133-AF1E-158279773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069" y="3760554"/>
            <a:ext cx="829375" cy="41159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81D9EF4-B134-4614-9796-099998394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412" y="4327009"/>
            <a:ext cx="889955" cy="39273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361D815-2E6D-4FCC-AD0D-61F54C73AE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140" y="2074444"/>
            <a:ext cx="1570115" cy="40625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F7D757D-4E69-4E39-8D91-366B3FD0B9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7936" y="4897138"/>
            <a:ext cx="865431" cy="42280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47D5836-CD79-4745-989C-3602B87D0C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8780" y="5481038"/>
            <a:ext cx="1026263" cy="37843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C5D4E84-5A59-4627-B699-B8A7369664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157" y="6081240"/>
            <a:ext cx="1365426" cy="31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21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476</Words>
  <Application>Microsoft Office PowerPoint</Application>
  <PresentationFormat>와이드스크린</PresentationFormat>
  <Paragraphs>146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Sitka Subheading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우균 정</dc:creator>
  <cp:lastModifiedBy>민재 김</cp:lastModifiedBy>
  <cp:revision>674</cp:revision>
  <dcterms:created xsi:type="dcterms:W3CDTF">2021-05-29T07:48:15Z</dcterms:created>
  <dcterms:modified xsi:type="dcterms:W3CDTF">2025-07-07T01:24:31Z</dcterms:modified>
</cp:coreProperties>
</file>