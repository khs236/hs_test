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64" r:id="rId2"/>
    <p:sldId id="265" r:id="rId3"/>
    <p:sldId id="476" r:id="rId4"/>
    <p:sldId id="492" r:id="rId5"/>
    <p:sldId id="493" r:id="rId6"/>
    <p:sldId id="494" r:id="rId7"/>
    <p:sldId id="495" r:id="rId8"/>
    <p:sldId id="496" r:id="rId9"/>
    <p:sldId id="498" r:id="rId10"/>
    <p:sldId id="499" r:id="rId11"/>
    <p:sldId id="500" r:id="rId12"/>
    <p:sldId id="501" r:id="rId13"/>
    <p:sldId id="482" r:id="rId14"/>
    <p:sldId id="483" r:id="rId15"/>
    <p:sldId id="497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7F7"/>
    <a:srgbClr val="EFF3FD"/>
    <a:srgbClr val="051766"/>
    <a:srgbClr val="BCE4F7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A970C30-8012-4941-8EC7-F293906D307F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0CCE28C-4AD8-4574-886D-F23870002D0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63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0CCE28C-4AD8-4574-886D-F23870002D03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3064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AFEE98-AE57-4C35-B3AB-54A854D883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C6F2A74-1662-44C0-9491-04254F28D88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1544ED-E500-4410-B279-2741CC5CB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6C202FA-6742-408A-A94F-8496F959B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C7155F-AA14-4227-9D00-0226B8B222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3106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153B8D-080B-4832-B0B6-71945C2CC6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9176DF0-34EB-4ABB-A1BD-2E1705DD0D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7832FF-E656-459E-AEED-31E5E49C1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16E408-BF26-48DA-83E6-D9A8D2DF8E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BCD1109-021D-4436-B59B-E918CFA66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01911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CAC1D3-B2D9-4CAF-8244-B47902D78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C8A0F8A-4429-492E-9D32-C6F58161F8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3B5DFE8-1E87-4CFA-B8D2-DD0B429ED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091558-B7F8-4228-8308-8EC79D65F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DEA80B3-2F21-4299-ADCF-18C529BB2A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4598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94F54-7FFE-42E9-9446-7D6A1193D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916265-E7EA-4E35-9B3B-B4F2EA136C7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993E0EB-8D94-4E50-BE97-96E147E2BB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DEB43B7-8442-4889-8E4E-2485F81B0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AC1D90E-DC97-433F-8B6E-F28DEC641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35269EB-2F76-4C1C-954B-01DC36942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082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9D4AF8-9D3F-4631-87E4-66EEB4F29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2E6F389-14B4-4438-8FC0-D68EC0BCA0A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52EA64-4263-42A1-BE0D-3BE6749C3A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47F20AA-71E4-4696-86AA-98EE0CB12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66F84-9F3C-40B8-8436-628DCF7E8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0E8A6F0-3F4D-490C-96EA-D28CC49B0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6697743-44EB-42AB-BC71-1E92724B6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D5FAC3F-F386-4715-A47E-FE5B60E18A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83629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A5ABAC-D7DE-4A30-9864-A0A37A4626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5799C937-5442-4F1E-9ECF-BC4C3146E4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29E1B4F-B2C9-416C-8EF2-2C7AFC018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D9DFC29-CF4B-4882-AD40-0A8C741EAF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2682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2782943-06BA-4757-AF9E-BF9916B8F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1DC2A3F-74B3-4494-8404-79E33922F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985AE4-8F60-4076-9795-1F5BA6854B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4870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E621D7-F636-4F05-93B0-CC82D2372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5323EE-8D83-4188-9217-048191A8B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0306FBF-16AC-4892-AC73-7AD65E223D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0691C64-D6DC-4B7A-9E2C-66A18ADC0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78BBB8B-4581-4DB9-BC67-173A91284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601B404-60C3-4818-B99B-387779770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74929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29BAC6-946D-4398-BE2D-23054AB899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2AFB1C5-7341-48E3-B405-B9CC7312A8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C825B74-02CD-437C-BC12-872DF9CE6F6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43A1108-3E94-47BD-8596-9458A779B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E27E73-DF27-4A76-9BF9-B17AEBBEE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6C09477-1395-4BB9-BF48-34671F4A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648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1545AC-D2FB-4276-90BC-5CFB7E136A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413BAD4-EA38-4C3F-BE17-A9061ABD7D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00DA258-5A79-48F2-88F3-D8B14D004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5917A6-A169-411C-8C58-CDB04B754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07F4286-9AAE-4662-9A63-2EE591E678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96407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2B522A5-A801-446E-A038-684EDCEE07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70D7A5B-3A2F-43F9-AD13-411C5E4815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BD80F7-32C8-4637-84FA-A6D4A80B7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FD59D84-375A-4A41-9621-409C6098E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C021F-16A9-4E46-84EF-F7EF9F763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0729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C0E3A30-4189-4A39-8A90-F42EDE6D7C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7199C8E-355F-4229-8363-2AD756BBE6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C67704C-6573-4A32-944D-AEC4657ABF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A37773-8929-44B6-A93D-77D50AE16D7D}" type="datetimeFigureOut">
              <a:rPr lang="ko-KR" altLang="en-US" smtClean="0"/>
              <a:t>2025-07-07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56AD91F-1311-4815-9A0E-3EAD573450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E54BEE-167F-4808-B590-1CE22C5A8E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1335C-A66F-4B72-B03F-C209E17CF16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8558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/>
          <p:nvPr/>
        </p:nvCxnSpPr>
        <p:spPr>
          <a:xfrm>
            <a:off x="796415" y="3429000"/>
            <a:ext cx="10382864" cy="0"/>
          </a:xfrm>
          <a:prstGeom prst="line">
            <a:avLst/>
          </a:prstGeom>
          <a:ln w="57150">
            <a:solidFill>
              <a:srgbClr val="4472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997D056A-6397-1A84-4573-A3AED7B5F616}"/>
              </a:ext>
            </a:extLst>
          </p:cNvPr>
          <p:cNvSpPr txBox="1"/>
          <p:nvPr/>
        </p:nvSpPr>
        <p:spPr>
          <a:xfrm>
            <a:off x="722671" y="2521974"/>
            <a:ext cx="828162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dirty="0"/>
              <a:t>KOREANA AIR </a:t>
            </a:r>
            <a:r>
              <a:rPr lang="ko-KR" altLang="en-US" sz="4000" dirty="0"/>
              <a:t>항공사 홈페이지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EB7A9B7-7703-4B8A-92C4-EBCD06120F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97989" y="2272761"/>
            <a:ext cx="1206311" cy="120631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4F4F307-93B4-4A85-BB02-87F1DFF267E4}"/>
              </a:ext>
            </a:extLst>
          </p:cNvPr>
          <p:cNvSpPr txBox="1"/>
          <p:nvPr/>
        </p:nvSpPr>
        <p:spPr>
          <a:xfrm>
            <a:off x="3708400" y="5391665"/>
            <a:ext cx="43561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조원</a:t>
            </a:r>
            <a:r>
              <a:rPr lang="en-US" altLang="ko-KR" b="1" dirty="0"/>
              <a:t>: </a:t>
            </a:r>
            <a:r>
              <a:rPr lang="ko-KR" altLang="en-US" b="1" dirty="0" err="1"/>
              <a:t>김홍섭</a:t>
            </a:r>
            <a:r>
              <a:rPr lang="en-US" altLang="ko-KR" b="1" dirty="0"/>
              <a:t>, </a:t>
            </a:r>
            <a:r>
              <a:rPr lang="ko-KR" altLang="en-US" b="1" dirty="0" err="1"/>
              <a:t>남규민</a:t>
            </a:r>
            <a:r>
              <a:rPr lang="en-US" altLang="ko-KR" b="1" dirty="0"/>
              <a:t>, </a:t>
            </a:r>
            <a:r>
              <a:rPr lang="ko-KR" altLang="en-US" b="1" dirty="0"/>
              <a:t>심예진</a:t>
            </a:r>
            <a:r>
              <a:rPr lang="en-US" altLang="ko-KR" b="1" dirty="0"/>
              <a:t>, </a:t>
            </a:r>
            <a:r>
              <a:rPr lang="ko-KR" altLang="en-US" b="1" dirty="0"/>
              <a:t>이수현</a:t>
            </a:r>
          </a:p>
        </p:txBody>
      </p:sp>
    </p:spTree>
    <p:extLst>
      <p:ext uri="{BB962C8B-B14F-4D97-AF65-F5344CB8AC3E}">
        <p14:creationId xmlns:p14="http://schemas.microsoft.com/office/powerpoint/2010/main" val="33019587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">
              <a:schemeClr val="accent1">
                <a:lumMod val="5000"/>
                <a:lumOff val="95000"/>
              </a:schemeClr>
            </a:gs>
            <a:gs pos="37000">
              <a:schemeClr val="accent1">
                <a:lumMod val="45000"/>
                <a:lumOff val="55000"/>
              </a:schemeClr>
            </a:gs>
            <a:gs pos="69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4380080" y="1459230"/>
            <a:ext cx="0" cy="3385542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1196874" y="2721114"/>
            <a:ext cx="2370406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5000" dirty="0"/>
              <a:t>INDEX</a:t>
            </a:r>
            <a:endParaRPr lang="ko-KR" altLang="en-US" sz="50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DC659D7-B149-FA89-7B62-03E4909C1A65}"/>
              </a:ext>
            </a:extLst>
          </p:cNvPr>
          <p:cNvSpPr txBox="1"/>
          <p:nvPr/>
        </p:nvSpPr>
        <p:spPr>
          <a:xfrm>
            <a:off x="4771514" y="1459230"/>
            <a:ext cx="444417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1. </a:t>
            </a:r>
            <a:r>
              <a:rPr lang="ko-KR" altLang="en-US" sz="3000" dirty="0"/>
              <a:t>구동환경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2370E9A-67F4-CA06-A570-74E5D00FB26F}"/>
              </a:ext>
            </a:extLst>
          </p:cNvPr>
          <p:cNvSpPr txBox="1"/>
          <p:nvPr/>
        </p:nvSpPr>
        <p:spPr>
          <a:xfrm>
            <a:off x="4771514" y="2167116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2. </a:t>
            </a:r>
            <a:r>
              <a:rPr lang="ko-KR" altLang="en-US" sz="3000" dirty="0"/>
              <a:t>디자인 요소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A72002-267B-4233-97FB-A6C5B60DAB8C}"/>
              </a:ext>
            </a:extLst>
          </p:cNvPr>
          <p:cNvSpPr txBox="1"/>
          <p:nvPr/>
        </p:nvSpPr>
        <p:spPr>
          <a:xfrm>
            <a:off x="4771514" y="2875002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3. </a:t>
            </a:r>
            <a:r>
              <a:rPr lang="ko-KR" altLang="en-US" sz="3000" dirty="0"/>
              <a:t>레이아웃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6D99DD-255B-4E50-B29D-3B659A225A5C}"/>
              </a:ext>
            </a:extLst>
          </p:cNvPr>
          <p:cNvSpPr txBox="1"/>
          <p:nvPr/>
        </p:nvSpPr>
        <p:spPr>
          <a:xfrm>
            <a:off x="4771514" y="3582888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4. Navigation</a:t>
            </a:r>
            <a:endParaRPr lang="ko-KR" altLang="en-US" sz="30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AAA32B3-C5B0-4612-A2AC-4DD7CCF6D781}"/>
              </a:ext>
            </a:extLst>
          </p:cNvPr>
          <p:cNvSpPr txBox="1"/>
          <p:nvPr/>
        </p:nvSpPr>
        <p:spPr>
          <a:xfrm>
            <a:off x="4771514" y="4290774"/>
            <a:ext cx="572237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dirty="0"/>
              <a:t>5. </a:t>
            </a:r>
            <a:r>
              <a:rPr lang="ko-KR" altLang="en-US" sz="3000" dirty="0"/>
              <a:t>구성요소 정의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C5F7D64-7EB8-4D6B-AB3B-730FEA8883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9963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01 </a:t>
            </a:r>
            <a:r>
              <a:rPr lang="ko-KR" altLang="en-US" sz="3000" b="1" dirty="0"/>
              <a:t>구동환경</a:t>
            </a:r>
            <a:endParaRPr lang="ko-KR" altLang="en-US" sz="3000" b="1" dirty="0">
              <a:solidFill>
                <a:schemeClr val="accent5"/>
              </a:solidFill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A2DA4CA-4D00-48FF-B43C-62FF031EAD87}"/>
              </a:ext>
            </a:extLst>
          </p:cNvPr>
          <p:cNvSpPr/>
          <p:nvPr/>
        </p:nvSpPr>
        <p:spPr>
          <a:xfrm>
            <a:off x="1455878" y="157458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630905" y="1683486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dirty="0"/>
              <a:t>OS: Windows</a:t>
            </a:r>
            <a:endParaRPr lang="ko-KR" altLang="en-US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630905" y="287500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3000" dirty="0"/>
              <a:t>Browser:</a:t>
            </a:r>
            <a:r>
              <a:rPr lang="ko-KR" altLang="en-US" sz="3000" dirty="0"/>
              <a:t> </a:t>
            </a:r>
            <a:r>
              <a:rPr lang="en-US" altLang="ko-KR" sz="3000" dirty="0"/>
              <a:t>Chrome</a:t>
            </a:r>
            <a:endParaRPr lang="ko-KR" altLang="en-US" sz="30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630905" y="4066518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해상도</a:t>
            </a:r>
            <a:r>
              <a:rPr lang="en-US" altLang="ko-KR" sz="3000" dirty="0"/>
              <a:t>:1920px X 1080px</a:t>
            </a:r>
            <a:endParaRPr lang="ko-KR" altLang="en-US" sz="3000" dirty="0"/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A07C889-33CE-4A57-901D-73621F2E5A54}"/>
              </a:ext>
            </a:extLst>
          </p:cNvPr>
          <p:cNvSpPr/>
          <p:nvPr/>
        </p:nvSpPr>
        <p:spPr>
          <a:xfrm>
            <a:off x="1455878" y="273096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B7EA33-E9BE-4F16-8A42-D5A1F4942257}"/>
              </a:ext>
            </a:extLst>
          </p:cNvPr>
          <p:cNvSpPr/>
          <p:nvPr/>
        </p:nvSpPr>
        <p:spPr>
          <a:xfrm>
            <a:off x="1451925" y="3934117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타원 14">
            <a:extLst>
              <a:ext uri="{FF2B5EF4-FFF2-40B4-BE49-F238E27FC236}">
                <a16:creationId xmlns:a16="http://schemas.microsoft.com/office/drawing/2014/main" id="{18D6FB45-E8C6-4283-9DED-525314CDB2A1}"/>
              </a:ext>
            </a:extLst>
          </p:cNvPr>
          <p:cNvSpPr/>
          <p:nvPr/>
        </p:nvSpPr>
        <p:spPr>
          <a:xfrm>
            <a:off x="1451925" y="5028191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CCA0E-D872-4103-AEC0-E2B66362CBAE}"/>
              </a:ext>
            </a:extLst>
          </p:cNvPr>
          <p:cNvSpPr txBox="1"/>
          <p:nvPr/>
        </p:nvSpPr>
        <p:spPr>
          <a:xfrm>
            <a:off x="2630905" y="5137369"/>
            <a:ext cx="813334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3000" dirty="0"/>
              <a:t>레이아웃  </a:t>
            </a:r>
            <a:r>
              <a:rPr lang="en-US" altLang="ko-KR" sz="3000" dirty="0"/>
              <a:t>-</a:t>
            </a:r>
            <a:r>
              <a:rPr lang="ko-KR" altLang="en-US" sz="3000" dirty="0"/>
              <a:t>화면구조</a:t>
            </a:r>
            <a:r>
              <a:rPr lang="en-US" altLang="ko-KR" sz="3000" dirty="0"/>
              <a:t>- -</a:t>
            </a:r>
            <a:r>
              <a:rPr lang="ko-KR" altLang="en-US" sz="3000" dirty="0"/>
              <a:t>상단메뉴</a:t>
            </a:r>
            <a:r>
              <a:rPr lang="en-US" altLang="ko-KR" sz="3000" dirty="0"/>
              <a:t>- -Navigation</a:t>
            </a:r>
          </a:p>
          <a:p>
            <a:pPr algn="ctr"/>
            <a:r>
              <a:rPr lang="en-US" altLang="ko-KR" sz="3000" dirty="0"/>
              <a:t>-Contents Area- -Footer Area             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3BC17FF-49B7-4054-A64D-DB298C911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7724CBE0-9B42-4F2F-A661-C3BF435A5767}"/>
              </a:ext>
            </a:extLst>
          </p:cNvPr>
          <p:cNvSpPr/>
          <p:nvPr/>
        </p:nvSpPr>
        <p:spPr>
          <a:xfrm>
            <a:off x="1596307" y="1502569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B39B659B-C841-4C47-8245-62222BE73B17}"/>
              </a:ext>
            </a:extLst>
          </p:cNvPr>
          <p:cNvSpPr/>
          <p:nvPr/>
        </p:nvSpPr>
        <p:spPr>
          <a:xfrm>
            <a:off x="1580265" y="4983616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9BB7DB43-7976-483E-9407-C4AB6254BD3D}"/>
              </a:ext>
            </a:extLst>
          </p:cNvPr>
          <p:cNvSpPr/>
          <p:nvPr/>
        </p:nvSpPr>
        <p:spPr>
          <a:xfrm>
            <a:off x="1596307" y="3895168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03CA4C5-CD57-43E2-9170-47E3BCC69E25}"/>
              </a:ext>
            </a:extLst>
          </p:cNvPr>
          <p:cNvSpPr/>
          <p:nvPr/>
        </p:nvSpPr>
        <p:spPr>
          <a:xfrm>
            <a:off x="1596307" y="2686385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4271015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타원 1">
            <a:extLst>
              <a:ext uri="{FF2B5EF4-FFF2-40B4-BE49-F238E27FC236}">
                <a16:creationId xmlns:a16="http://schemas.microsoft.com/office/drawing/2014/main" id="{DA2DA4CA-4D00-48FF-B43C-62FF031EAD87}"/>
              </a:ext>
            </a:extLst>
          </p:cNvPr>
          <p:cNvSpPr/>
          <p:nvPr/>
        </p:nvSpPr>
        <p:spPr>
          <a:xfrm>
            <a:off x="1427747" y="2085474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630905" y="2225565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로고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630905" y="347292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630905" y="4720279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</a:t>
            </a:r>
          </a:p>
        </p:txBody>
      </p:sp>
      <p:sp>
        <p:nvSpPr>
          <p:cNvPr id="13" name="타원 12">
            <a:extLst>
              <a:ext uri="{FF2B5EF4-FFF2-40B4-BE49-F238E27FC236}">
                <a16:creationId xmlns:a16="http://schemas.microsoft.com/office/drawing/2014/main" id="{BA07C889-33CE-4A57-901D-73621F2E5A54}"/>
              </a:ext>
            </a:extLst>
          </p:cNvPr>
          <p:cNvSpPr/>
          <p:nvPr/>
        </p:nvSpPr>
        <p:spPr>
          <a:xfrm>
            <a:off x="1427747" y="3334797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타원 13">
            <a:extLst>
              <a:ext uri="{FF2B5EF4-FFF2-40B4-BE49-F238E27FC236}">
                <a16:creationId xmlns:a16="http://schemas.microsoft.com/office/drawing/2014/main" id="{08B7EA33-E9BE-4F16-8A42-D5A1F4942257}"/>
              </a:ext>
            </a:extLst>
          </p:cNvPr>
          <p:cNvSpPr/>
          <p:nvPr/>
        </p:nvSpPr>
        <p:spPr>
          <a:xfrm>
            <a:off x="1427747" y="458412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C23A60-7E2A-473B-B14E-12E5C6FB5793}"/>
              </a:ext>
            </a:extLst>
          </p:cNvPr>
          <p:cNvSpPr/>
          <p:nvPr/>
        </p:nvSpPr>
        <p:spPr>
          <a:xfrm>
            <a:off x="1552133" y="2040899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16F95AE2-4E90-4857-8ECF-F0DEF0D87CF2}"/>
              </a:ext>
            </a:extLst>
          </p:cNvPr>
          <p:cNvSpPr/>
          <p:nvPr/>
        </p:nvSpPr>
        <p:spPr>
          <a:xfrm>
            <a:off x="1552132" y="3288256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A46C42D1-CC2F-49A5-871D-50792C528FEA}"/>
              </a:ext>
            </a:extLst>
          </p:cNvPr>
          <p:cNvSpPr/>
          <p:nvPr/>
        </p:nvSpPr>
        <p:spPr>
          <a:xfrm>
            <a:off x="1568296" y="4535613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0939669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로고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-1235242" y="2228671"/>
            <a:ext cx="12192000" cy="2015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●  전통 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미래 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+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연결성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태극은 한국 정체성과 조화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,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비행기는 글로벌 비전과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     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이동성을 상징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두 요소의 교차는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KOREANA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항공의 철학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–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전통과 현대</a:t>
            </a:r>
            <a:endParaRPr lang="en-US" altLang="ko-KR" sz="25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</a:t>
            </a: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지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역과 세계를 잇는 연결을 담고 있음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-1235242" y="5175748"/>
            <a:ext cx="12192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        ●  로고는 </a:t>
            </a:r>
            <a:r>
              <a:rPr lang="en-US" altLang="ko-KR" sz="2500" dirty="0" err="1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BrandCrowd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사이트를 참고하였음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BF967E6-66AD-4B60-95B1-918ED320D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1736" y="1883177"/>
            <a:ext cx="4329606" cy="4329606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648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폰트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0" y="2228671"/>
            <a:ext cx="8646695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●  폰트는 가독성을 높이기 위해 두개의 폰트만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사용하였다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                    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0" y="5175748"/>
            <a:ext cx="1095675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●  지원되는 폰트의 종류에 제약이 없어 </a:t>
            </a:r>
            <a:r>
              <a:rPr lang="en-US" altLang="ko-KR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Instrument Sans, Inter </a:t>
            </a:r>
            <a:r>
              <a:rPr lang="ko-KR" altLang="en-US" sz="250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두가지의</a:t>
            </a:r>
            <a:endParaRPr lang="en-US" altLang="ko-KR" sz="2500" dirty="0">
              <a:solidFill>
                <a:prstClr val="black"/>
              </a:solidFill>
              <a:latin typeface="맑은 고딕" panose="020F0502020204030204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2500" noProof="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     </a:t>
            </a:r>
            <a:r>
              <a:rPr lang="ko-KR" altLang="en-US" sz="2500" noProof="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폰트를 사용하였다</a:t>
            </a:r>
            <a:r>
              <a:rPr lang="en-US" altLang="ko-KR" sz="2500" noProof="0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.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71092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02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디자인 요소 </a:t>
            </a: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-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색상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-1113886" y="2171963"/>
            <a:ext cx="10956758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●  사용자의 눈에 부담을 주지 않기 위해 단색 계열의</a:t>
            </a:r>
            <a:endParaRPr kumimoji="0" lang="en-US" altLang="ko-KR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                   색상을 사용하였다</a:t>
            </a:r>
            <a:r>
              <a:rPr kumimoji="0" lang="en-US" altLang="ko-KR" sz="25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.</a:t>
            </a:r>
            <a:endParaRPr kumimoji="0" lang="ko-KR" altLang="en-US" sz="25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9EFB474D-7BB7-4D96-AFE2-E91A3ED476E9}"/>
              </a:ext>
            </a:extLst>
          </p:cNvPr>
          <p:cNvSpPr/>
          <p:nvPr/>
        </p:nvSpPr>
        <p:spPr>
          <a:xfrm>
            <a:off x="3241546" y="3429000"/>
            <a:ext cx="1187116" cy="994606"/>
          </a:xfrm>
          <a:prstGeom prst="rect">
            <a:avLst/>
          </a:prstGeom>
          <a:solidFill>
            <a:srgbClr val="BCE4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4472C4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40286F5C-EE1F-4B79-99D8-1B033D695C2E}"/>
              </a:ext>
            </a:extLst>
          </p:cNvPr>
          <p:cNvSpPr/>
          <p:nvPr/>
        </p:nvSpPr>
        <p:spPr>
          <a:xfrm>
            <a:off x="4428662" y="3429000"/>
            <a:ext cx="1187116" cy="994606"/>
          </a:xfrm>
          <a:prstGeom prst="rect">
            <a:avLst/>
          </a:prstGeom>
          <a:solidFill>
            <a:srgbClr val="0517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rgbClr val="4472C4"/>
              </a:solidFill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990585F0-56C7-476D-B970-DA390C3AA15E}"/>
              </a:ext>
            </a:extLst>
          </p:cNvPr>
          <p:cNvSpPr/>
          <p:nvPr/>
        </p:nvSpPr>
        <p:spPr>
          <a:xfrm>
            <a:off x="5615778" y="3429000"/>
            <a:ext cx="1187116" cy="994606"/>
          </a:xfrm>
          <a:prstGeom prst="rect">
            <a:avLst/>
          </a:prstGeom>
          <a:solidFill>
            <a:srgbClr val="EFF3FD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4472C4"/>
              </a:solidFill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21968109-3015-4E4C-870E-74900B415A31}"/>
              </a:ext>
            </a:extLst>
          </p:cNvPr>
          <p:cNvSpPr/>
          <p:nvPr/>
        </p:nvSpPr>
        <p:spPr>
          <a:xfrm>
            <a:off x="6802894" y="3429000"/>
            <a:ext cx="1187116" cy="994606"/>
          </a:xfrm>
          <a:prstGeom prst="rect">
            <a:avLst/>
          </a:prstGeom>
          <a:solidFill>
            <a:srgbClr val="F7F7F7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rgbClr val="4472C4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B92F24-2D73-4CB3-ADF4-1C8CAE9C2DC8}"/>
              </a:ext>
            </a:extLst>
          </p:cNvPr>
          <p:cNvSpPr txBox="1"/>
          <p:nvPr/>
        </p:nvSpPr>
        <p:spPr>
          <a:xfrm>
            <a:off x="3241546" y="4376894"/>
            <a:ext cx="1187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RGB</a:t>
            </a:r>
          </a:p>
          <a:p>
            <a:pPr algn="ctr"/>
            <a:r>
              <a:rPr lang="en-US" altLang="ko-KR" dirty="0"/>
              <a:t>R: 118</a:t>
            </a:r>
          </a:p>
          <a:p>
            <a:pPr algn="ctr"/>
            <a:r>
              <a:rPr lang="en-US" altLang="ko-KR" dirty="0"/>
              <a:t>G: 228</a:t>
            </a:r>
          </a:p>
          <a:p>
            <a:pPr algn="ctr"/>
            <a:r>
              <a:rPr lang="en-US" altLang="ko-KR" dirty="0"/>
              <a:t>B: 247</a:t>
            </a:r>
            <a:endParaRPr lang="ko-KR" alt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FA7BA45-D544-4D91-BACD-52BBEEFAC08B}"/>
              </a:ext>
            </a:extLst>
          </p:cNvPr>
          <p:cNvSpPr txBox="1"/>
          <p:nvPr/>
        </p:nvSpPr>
        <p:spPr>
          <a:xfrm>
            <a:off x="4428662" y="4383095"/>
            <a:ext cx="1187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RGB</a:t>
            </a:r>
          </a:p>
          <a:p>
            <a:pPr algn="ctr"/>
            <a:r>
              <a:rPr lang="en-US" altLang="ko-KR" dirty="0"/>
              <a:t>R: 5</a:t>
            </a:r>
          </a:p>
          <a:p>
            <a:pPr algn="ctr"/>
            <a:r>
              <a:rPr lang="en-US" altLang="ko-KR" dirty="0"/>
              <a:t>G:23 </a:t>
            </a:r>
          </a:p>
          <a:p>
            <a:pPr algn="ctr"/>
            <a:r>
              <a:rPr lang="en-US" altLang="ko-KR" dirty="0"/>
              <a:t>B: 102</a:t>
            </a:r>
            <a:endParaRPr lang="ko-KR" altLang="en-US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AA0C38DD-C9F5-42A1-9D6E-CD03376037D3}"/>
              </a:ext>
            </a:extLst>
          </p:cNvPr>
          <p:cNvSpPr txBox="1"/>
          <p:nvPr/>
        </p:nvSpPr>
        <p:spPr>
          <a:xfrm>
            <a:off x="5615778" y="4375110"/>
            <a:ext cx="1187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RGB</a:t>
            </a:r>
          </a:p>
          <a:p>
            <a:pPr algn="ctr"/>
            <a:r>
              <a:rPr lang="en-US" altLang="ko-KR" dirty="0"/>
              <a:t>R: 239</a:t>
            </a:r>
          </a:p>
          <a:p>
            <a:pPr algn="ctr"/>
            <a:r>
              <a:rPr lang="en-US" altLang="ko-KR" dirty="0"/>
              <a:t>G: 243</a:t>
            </a:r>
          </a:p>
          <a:p>
            <a:pPr algn="ctr"/>
            <a:r>
              <a:rPr lang="en-US" altLang="ko-KR" dirty="0"/>
              <a:t>B: 253</a:t>
            </a:r>
            <a:endParaRPr lang="ko-KR" alt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AFCA642-0416-4AD4-8548-8A50151131ED}"/>
              </a:ext>
            </a:extLst>
          </p:cNvPr>
          <p:cNvSpPr txBox="1"/>
          <p:nvPr/>
        </p:nvSpPr>
        <p:spPr>
          <a:xfrm>
            <a:off x="6802894" y="4367125"/>
            <a:ext cx="11871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RGB</a:t>
            </a:r>
          </a:p>
          <a:p>
            <a:pPr algn="ctr"/>
            <a:r>
              <a:rPr lang="en-US" altLang="ko-KR" dirty="0"/>
              <a:t>R: 247</a:t>
            </a:r>
          </a:p>
          <a:p>
            <a:pPr algn="ctr"/>
            <a:r>
              <a:rPr lang="en-US" altLang="ko-KR" dirty="0"/>
              <a:t>G: 247</a:t>
            </a:r>
          </a:p>
          <a:p>
            <a:pPr algn="ctr"/>
            <a:r>
              <a:rPr lang="en-US" altLang="ko-KR" dirty="0"/>
              <a:t>B: 247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704496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>
                <a:solidFill>
                  <a:schemeClr val="accent5"/>
                </a:solidFill>
              </a:rPr>
              <a:t>02 </a:t>
            </a:r>
            <a:r>
              <a:rPr lang="ko-KR" altLang="en-US" sz="3000" b="1" dirty="0"/>
              <a:t>디자인 원칙</a:t>
            </a:r>
            <a:endParaRPr lang="ko-KR" altLang="en-US" sz="3000" b="1" dirty="0">
              <a:solidFill>
                <a:schemeClr val="accent5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2B302C-012C-43BF-AE4E-9B00D0FFC851}"/>
              </a:ext>
            </a:extLst>
          </p:cNvPr>
          <p:cNvSpPr txBox="1"/>
          <p:nvPr/>
        </p:nvSpPr>
        <p:spPr>
          <a:xfrm>
            <a:off x="2630905" y="1683486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폰트 선택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565D32E-B2DC-4EAA-9AF7-F7B2C6825DF6}"/>
              </a:ext>
            </a:extLst>
          </p:cNvPr>
          <p:cNvSpPr txBox="1"/>
          <p:nvPr/>
        </p:nvSpPr>
        <p:spPr>
          <a:xfrm>
            <a:off x="2630905" y="2875002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색상 조합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A9BCB9C-57D2-4014-BC86-17D1EAD70BC6}"/>
              </a:ext>
            </a:extLst>
          </p:cNvPr>
          <p:cNvSpPr txBox="1"/>
          <p:nvPr/>
        </p:nvSpPr>
        <p:spPr>
          <a:xfrm>
            <a:off x="2630905" y="4066518"/>
            <a:ext cx="638475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이미지 사용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45CCA0E-D872-4103-AEC0-E2B66362CBAE}"/>
              </a:ext>
            </a:extLst>
          </p:cNvPr>
          <p:cNvSpPr txBox="1"/>
          <p:nvPr/>
        </p:nvSpPr>
        <p:spPr>
          <a:xfrm>
            <a:off x="2630905" y="5137369"/>
            <a:ext cx="813334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3000" dirty="0"/>
              <a:t>상세한 </a:t>
            </a:r>
            <a:r>
              <a:rPr lang="en-US" altLang="ko-KR" sz="3000" dirty="0"/>
              <a:t>UI </a:t>
            </a:r>
            <a:r>
              <a:rPr lang="ko-KR" altLang="en-US" sz="3000" dirty="0"/>
              <a:t>가이드라인</a:t>
            </a:r>
            <a:endParaRPr lang="en-US" altLang="ko-KR" sz="3000" dirty="0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D3BC17FF-49B7-4054-A64D-DB298C911F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26" name="타원 25">
            <a:extLst>
              <a:ext uri="{FF2B5EF4-FFF2-40B4-BE49-F238E27FC236}">
                <a16:creationId xmlns:a16="http://schemas.microsoft.com/office/drawing/2014/main" id="{A3FF25D0-DEA3-4996-8C40-3FE7F74D2DBC}"/>
              </a:ext>
            </a:extLst>
          </p:cNvPr>
          <p:cNvSpPr/>
          <p:nvPr/>
        </p:nvSpPr>
        <p:spPr>
          <a:xfrm>
            <a:off x="1455878" y="157458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8B4C4E1-2431-449F-9015-E2F0FBD3A492}"/>
              </a:ext>
            </a:extLst>
          </p:cNvPr>
          <p:cNvSpPr/>
          <p:nvPr/>
        </p:nvSpPr>
        <p:spPr>
          <a:xfrm>
            <a:off x="1455878" y="2730960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8" name="타원 27">
            <a:extLst>
              <a:ext uri="{FF2B5EF4-FFF2-40B4-BE49-F238E27FC236}">
                <a16:creationId xmlns:a16="http://schemas.microsoft.com/office/drawing/2014/main" id="{8E4AB592-9C69-4D41-85B5-893B233F0FD1}"/>
              </a:ext>
            </a:extLst>
          </p:cNvPr>
          <p:cNvSpPr/>
          <p:nvPr/>
        </p:nvSpPr>
        <p:spPr>
          <a:xfrm>
            <a:off x="1451925" y="3934117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타원 28">
            <a:extLst>
              <a:ext uri="{FF2B5EF4-FFF2-40B4-BE49-F238E27FC236}">
                <a16:creationId xmlns:a16="http://schemas.microsoft.com/office/drawing/2014/main" id="{ACD1FCBC-31B8-4BDC-BF22-7EB758B490CF}"/>
              </a:ext>
            </a:extLst>
          </p:cNvPr>
          <p:cNvSpPr/>
          <p:nvPr/>
        </p:nvSpPr>
        <p:spPr>
          <a:xfrm>
            <a:off x="1451925" y="5028191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DCAFF306-C22D-4CB8-8DC7-86DBCADB1612}"/>
              </a:ext>
            </a:extLst>
          </p:cNvPr>
          <p:cNvSpPr/>
          <p:nvPr/>
        </p:nvSpPr>
        <p:spPr>
          <a:xfrm>
            <a:off x="1596307" y="1502569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46C55B5-BA7B-4851-8358-9CFE8C2036AF}"/>
              </a:ext>
            </a:extLst>
          </p:cNvPr>
          <p:cNvSpPr/>
          <p:nvPr/>
        </p:nvSpPr>
        <p:spPr>
          <a:xfrm>
            <a:off x="1580265" y="4983616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4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8CE72E55-B599-43B6-84F3-7D01AA638084}"/>
              </a:ext>
            </a:extLst>
          </p:cNvPr>
          <p:cNvSpPr/>
          <p:nvPr/>
        </p:nvSpPr>
        <p:spPr>
          <a:xfrm>
            <a:off x="1596307" y="3895168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A1BEE7E-0E96-4443-9AF2-D343BED6B137}"/>
              </a:ext>
            </a:extLst>
          </p:cNvPr>
          <p:cNvSpPr/>
          <p:nvPr/>
        </p:nvSpPr>
        <p:spPr>
          <a:xfrm>
            <a:off x="1596307" y="2686385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0696491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3C7D83FB-5AFE-476C-8B51-6A7F75B93B2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6579" y="1332968"/>
            <a:ext cx="3506265" cy="4746019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25EE263-C118-49B7-A3D1-D02BF0BB520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288" y="1332967"/>
            <a:ext cx="3714757" cy="4746019"/>
          </a:xfrm>
          <a:prstGeom prst="rect">
            <a:avLst/>
          </a:prstGeom>
          <a:effectLst>
            <a:outerShdw blurRad="50800" dist="38100" dir="2700000" algn="tl" rotWithShape="0">
              <a:schemeClr val="tx1">
                <a:alpha val="40000"/>
              </a:schemeClr>
            </a:outerShdw>
          </a:effectLst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80D7814-930F-40DF-A15D-CD783B5718D4}"/>
              </a:ext>
            </a:extLst>
          </p:cNvPr>
          <p:cNvSpPr txBox="1"/>
          <p:nvPr/>
        </p:nvSpPr>
        <p:spPr>
          <a:xfrm>
            <a:off x="2510153" y="6159287"/>
            <a:ext cx="2459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err="1"/>
              <a:t>메인페이지</a:t>
            </a:r>
            <a:r>
              <a:rPr lang="ko-KR" altLang="en-US" dirty="0"/>
              <a:t> 레이아웃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0ECE204-122C-4E64-9EE0-C2B8A25E5E0F}"/>
              </a:ext>
            </a:extLst>
          </p:cNvPr>
          <p:cNvSpPr txBox="1"/>
          <p:nvPr/>
        </p:nvSpPr>
        <p:spPr>
          <a:xfrm>
            <a:off x="7171710" y="6159287"/>
            <a:ext cx="23439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서브페이지 레이아웃</a:t>
            </a:r>
          </a:p>
        </p:txBody>
      </p:sp>
    </p:spTree>
    <p:extLst>
      <p:ext uri="{BB962C8B-B14F-4D97-AF65-F5344CB8AC3E}">
        <p14:creationId xmlns:p14="http://schemas.microsoft.com/office/powerpoint/2010/main" val="27813616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 </a:t>
            </a:r>
            <a:r>
              <a:rPr lang="en-US" altLang="ko-KR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- Header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396AB0D-7BDC-48A9-850A-055A590EDB78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20" r="17544"/>
          <a:stretch/>
        </p:blipFill>
        <p:spPr>
          <a:xfrm>
            <a:off x="1581705" y="1414538"/>
            <a:ext cx="9028590" cy="71865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9" name="표 19">
            <a:extLst>
              <a:ext uri="{FF2B5EF4-FFF2-40B4-BE49-F238E27FC236}">
                <a16:creationId xmlns:a16="http://schemas.microsoft.com/office/drawing/2014/main" id="{F1CE478B-4B16-48A0-BDC1-93BD441C8570}"/>
              </a:ext>
            </a:extLst>
          </p:cNvPr>
          <p:cNvGraphicFramePr>
            <a:graphicFrameLocks noGrp="1"/>
          </p:cNvGraphicFramePr>
          <p:nvPr/>
        </p:nvGraphicFramePr>
        <p:xfrm>
          <a:off x="2184400" y="4444377"/>
          <a:ext cx="782320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0210">
                  <a:extLst>
                    <a:ext uri="{9D8B030D-6E8A-4147-A177-3AD203B41FA5}">
                      <a16:colId xmlns:a16="http://schemas.microsoft.com/office/drawing/2014/main" val="2365526896"/>
                    </a:ext>
                  </a:extLst>
                </a:gridCol>
                <a:gridCol w="6142990">
                  <a:extLst>
                    <a:ext uri="{9D8B030D-6E8A-4147-A177-3AD203B41FA5}">
                      <a16:colId xmlns:a16="http://schemas.microsoft.com/office/drawing/2014/main" val="923287061"/>
                    </a:ext>
                  </a:extLst>
                </a:gridCol>
              </a:tblGrid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67862569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상단메뉴</a:t>
                      </a:r>
                      <a:endParaRPr lang="en-US" altLang="ko-K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마우스 커서 이동 시 세부 카테고리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02262272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세부 카테고리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‘</a:t>
                      </a:r>
                      <a:r>
                        <a:rPr lang="en-US" altLang="ko-KR" dirty="0" err="1"/>
                        <a:t>Koreana</a:t>
                      </a:r>
                      <a:r>
                        <a:rPr lang="ko-KR" altLang="en-US" dirty="0"/>
                        <a:t>에 대하여</a:t>
                      </a:r>
                      <a:r>
                        <a:rPr lang="en-US" altLang="ko-KR" dirty="0"/>
                        <a:t>’</a:t>
                      </a:r>
                      <a:r>
                        <a:rPr lang="ko-KR" altLang="en-US" dirty="0"/>
                        <a:t> 페이지로 이동</a:t>
                      </a:r>
                      <a:endParaRPr lang="en-US" altLang="ko-KR" dirty="0"/>
                    </a:p>
                    <a:p>
                      <a:pPr latinLnBrk="1"/>
                      <a:r>
                        <a:rPr lang="ko-KR" altLang="en-US" dirty="0"/>
                        <a:t>마일리지 예매 마우스 커서 이동 시 세부 내용 표시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0732289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로그인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로그인 페이지로 이동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89454735"/>
                  </a:ext>
                </a:extLst>
              </a:tr>
              <a:tr h="35660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이벤트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이벤트 페이지로 이동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99805035"/>
                  </a:ext>
                </a:extLst>
              </a:tr>
            </a:tbl>
          </a:graphicData>
        </a:graphic>
      </p:graphicFrame>
      <p:sp>
        <p:nvSpPr>
          <p:cNvPr id="20" name="직사각형 19">
            <a:extLst>
              <a:ext uri="{FF2B5EF4-FFF2-40B4-BE49-F238E27FC236}">
                <a16:creationId xmlns:a16="http://schemas.microsoft.com/office/drawing/2014/main" id="{48B8C208-BD61-4918-88B0-3417328AA27C}"/>
              </a:ext>
            </a:extLst>
          </p:cNvPr>
          <p:cNvSpPr/>
          <p:nvPr/>
        </p:nvSpPr>
        <p:spPr>
          <a:xfrm>
            <a:off x="4188694" y="1826344"/>
            <a:ext cx="4770581" cy="302909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2" name="직선 화살표 연결선 21">
            <a:extLst>
              <a:ext uri="{FF2B5EF4-FFF2-40B4-BE49-F238E27FC236}">
                <a16:creationId xmlns:a16="http://schemas.microsoft.com/office/drawing/2014/main" id="{56E996DD-8FCA-409D-B337-7C705A2AFF8F}"/>
              </a:ext>
            </a:extLst>
          </p:cNvPr>
          <p:cNvCxnSpPr/>
          <p:nvPr/>
        </p:nvCxnSpPr>
        <p:spPr>
          <a:xfrm>
            <a:off x="5911272" y="1456779"/>
            <a:ext cx="0" cy="31403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52062067-55EF-4670-9C7D-39475766CA81}"/>
              </a:ext>
            </a:extLst>
          </p:cNvPr>
          <p:cNvSpPr txBox="1"/>
          <p:nvPr/>
        </p:nvSpPr>
        <p:spPr>
          <a:xfrm>
            <a:off x="5459866" y="1135146"/>
            <a:ext cx="90281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dirty="0">
                <a:solidFill>
                  <a:schemeClr val="accent2"/>
                </a:solidFill>
              </a:rPr>
              <a:t>상단메뉴</a:t>
            </a:r>
          </a:p>
        </p:txBody>
      </p:sp>
      <p:pic>
        <p:nvPicPr>
          <p:cNvPr id="27" name="그림 26">
            <a:extLst>
              <a:ext uri="{FF2B5EF4-FFF2-40B4-BE49-F238E27FC236}">
                <a16:creationId xmlns:a16="http://schemas.microsoft.com/office/drawing/2014/main" id="{8C847A17-D7A5-4139-8719-8E7CC48046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43742" y="2192484"/>
            <a:ext cx="4715533" cy="209579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29" name="그림 28">
            <a:extLst>
              <a:ext uri="{FF2B5EF4-FFF2-40B4-BE49-F238E27FC236}">
                <a16:creationId xmlns:a16="http://schemas.microsoft.com/office/drawing/2014/main" id="{2D519458-FA80-40DB-B653-27A4E04B7E2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76"/>
          <a:stretch/>
        </p:blipFill>
        <p:spPr>
          <a:xfrm>
            <a:off x="6362677" y="2335914"/>
            <a:ext cx="4715533" cy="202503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5D1D294D-9B3D-4EE0-878B-C101A18EC267}"/>
              </a:ext>
            </a:extLst>
          </p:cNvPr>
          <p:cNvCxnSpPr/>
          <p:nvPr/>
        </p:nvCxnSpPr>
        <p:spPr>
          <a:xfrm flipH="1">
            <a:off x="10367840" y="1960542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1A15227D-1BB1-4CBC-BBAD-5001D3CF1513}"/>
              </a:ext>
            </a:extLst>
          </p:cNvPr>
          <p:cNvSpPr txBox="1"/>
          <p:nvPr/>
        </p:nvSpPr>
        <p:spPr>
          <a:xfrm>
            <a:off x="10897198" y="1806653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2"/>
                </a:solidFill>
              </a:rPr>
              <a:t>회원메뉴</a:t>
            </a: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BB1A72B-E6F5-4978-ABDA-A8D53F782C81}"/>
              </a:ext>
            </a:extLst>
          </p:cNvPr>
          <p:cNvSpPr/>
          <p:nvPr/>
        </p:nvSpPr>
        <p:spPr>
          <a:xfrm>
            <a:off x="8728365" y="1478220"/>
            <a:ext cx="360216" cy="173114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76E781A9-A1D3-414C-8108-DBA87F2487CB}"/>
              </a:ext>
            </a:extLst>
          </p:cNvPr>
          <p:cNvCxnSpPr/>
          <p:nvPr/>
        </p:nvCxnSpPr>
        <p:spPr>
          <a:xfrm>
            <a:off x="8922331" y="1087327"/>
            <a:ext cx="0" cy="31403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2D3D8B6A-ECC5-4603-B6CD-FFFA2EFD944F}"/>
              </a:ext>
            </a:extLst>
          </p:cNvPr>
          <p:cNvSpPr txBox="1"/>
          <p:nvPr/>
        </p:nvSpPr>
        <p:spPr>
          <a:xfrm>
            <a:off x="8457067" y="807300"/>
            <a:ext cx="8002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200" dirty="0">
                <a:solidFill>
                  <a:schemeClr val="accent2"/>
                </a:solidFill>
              </a:rPr>
              <a:t>추가메뉴</a:t>
            </a:r>
          </a:p>
        </p:txBody>
      </p:sp>
    </p:spTree>
    <p:extLst>
      <p:ext uri="{BB962C8B-B14F-4D97-AF65-F5344CB8AC3E}">
        <p14:creationId xmlns:p14="http://schemas.microsoft.com/office/powerpoint/2010/main" val="31465833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 </a:t>
            </a:r>
            <a:r>
              <a:rPr lang="en-US" altLang="ko-KR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– Contents Area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B40C9FA7-9EEF-4B1B-8D6E-EE6CD3F53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DEAFDD0-C272-9ED3-0151-95A5EAE7DB2B}"/>
              </a:ext>
            </a:extLst>
          </p:cNvPr>
          <p:cNvSpPr txBox="1"/>
          <p:nvPr/>
        </p:nvSpPr>
        <p:spPr>
          <a:xfrm>
            <a:off x="819066" y="1672023"/>
            <a:ext cx="7493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항공편 조회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4C0EDB-6EEF-C181-588C-C222726B0AC1}"/>
              </a:ext>
            </a:extLst>
          </p:cNvPr>
          <p:cNvSpPr txBox="1"/>
          <p:nvPr/>
        </p:nvSpPr>
        <p:spPr>
          <a:xfrm>
            <a:off x="513806" y="3385369"/>
            <a:ext cx="10545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홍보 및 </a:t>
            </a:r>
            <a:endParaRPr lang="en-US" altLang="ko-KR" sz="1200" dirty="0">
              <a:solidFill>
                <a:schemeClr val="accent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공지</a:t>
            </a:r>
            <a:r>
              <a:rPr lang="en-US" altLang="ko-KR" sz="1200" dirty="0">
                <a:solidFill>
                  <a:schemeClr val="accent2"/>
                </a:solidFill>
              </a:rPr>
              <a:t> </a:t>
            </a:r>
            <a:r>
              <a:rPr lang="ko-KR" altLang="en-US" sz="1200" dirty="0">
                <a:solidFill>
                  <a:schemeClr val="accent2"/>
                </a:solidFill>
              </a:rPr>
              <a:t>리스트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1775667-EEEC-F718-5E2B-367D7F9F243B}"/>
              </a:ext>
            </a:extLst>
          </p:cNvPr>
          <p:cNvSpPr txBox="1"/>
          <p:nvPr/>
        </p:nvSpPr>
        <p:spPr>
          <a:xfrm>
            <a:off x="627534" y="4965106"/>
            <a:ext cx="8690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여행 관련</a:t>
            </a:r>
            <a:endParaRPr lang="en-US" altLang="ko-KR" sz="1200" dirty="0">
              <a:solidFill>
                <a:schemeClr val="accent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서비스</a:t>
            </a:r>
            <a:endParaRPr lang="en-US" altLang="ko-KR" sz="1200" dirty="0">
              <a:solidFill>
                <a:schemeClr val="accent2"/>
              </a:solidFill>
            </a:endParaRPr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04AA77C-3D00-4E16-9207-FE6064F9A6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402" y="1437402"/>
            <a:ext cx="4411981" cy="5137932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1" name="직사각형 20">
            <a:extLst>
              <a:ext uri="{FF2B5EF4-FFF2-40B4-BE49-F238E27FC236}">
                <a16:creationId xmlns:a16="http://schemas.microsoft.com/office/drawing/2014/main" id="{3E9677EB-F81E-42E9-99FE-45F904B0347F}"/>
              </a:ext>
            </a:extLst>
          </p:cNvPr>
          <p:cNvSpPr/>
          <p:nvPr/>
        </p:nvSpPr>
        <p:spPr>
          <a:xfrm>
            <a:off x="1981483" y="1373126"/>
            <a:ext cx="4566217" cy="1006517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028F270-269E-41CB-85D5-6B4C89387274}"/>
              </a:ext>
            </a:extLst>
          </p:cNvPr>
          <p:cNvSpPr/>
          <p:nvPr/>
        </p:nvSpPr>
        <p:spPr>
          <a:xfrm>
            <a:off x="1981483" y="2488664"/>
            <a:ext cx="4566217" cy="2205215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22215BF7-B87E-4A62-B3C9-FA852BD218E4}"/>
              </a:ext>
            </a:extLst>
          </p:cNvPr>
          <p:cNvSpPr/>
          <p:nvPr/>
        </p:nvSpPr>
        <p:spPr>
          <a:xfrm>
            <a:off x="1981483" y="4758156"/>
            <a:ext cx="4566217" cy="875566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DFA74A-C776-4171-ABBF-13F99EB98A84}"/>
              </a:ext>
            </a:extLst>
          </p:cNvPr>
          <p:cNvSpPr/>
          <p:nvPr/>
        </p:nvSpPr>
        <p:spPr>
          <a:xfrm>
            <a:off x="1981483" y="5697999"/>
            <a:ext cx="4566217" cy="986356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6DBF498C-0E0B-4444-9673-E12151D56A08}"/>
              </a:ext>
            </a:extLst>
          </p:cNvPr>
          <p:cNvCxnSpPr/>
          <p:nvPr/>
        </p:nvCxnSpPr>
        <p:spPr>
          <a:xfrm flipH="1">
            <a:off x="1496574" y="1902856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19D6FA04-DAAB-44DC-9330-CCED0319C044}"/>
              </a:ext>
            </a:extLst>
          </p:cNvPr>
          <p:cNvCxnSpPr/>
          <p:nvPr/>
        </p:nvCxnSpPr>
        <p:spPr>
          <a:xfrm flipH="1">
            <a:off x="1496574" y="3616202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710470CC-9911-4D18-9C6F-2D2E3E65CEF4}"/>
              </a:ext>
            </a:extLst>
          </p:cNvPr>
          <p:cNvCxnSpPr/>
          <p:nvPr/>
        </p:nvCxnSpPr>
        <p:spPr>
          <a:xfrm flipH="1">
            <a:off x="1496574" y="5200238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656B553D-5133-4E91-A8DC-279A8292910F}"/>
              </a:ext>
            </a:extLst>
          </p:cNvPr>
          <p:cNvCxnSpPr/>
          <p:nvPr/>
        </p:nvCxnSpPr>
        <p:spPr>
          <a:xfrm flipH="1">
            <a:off x="1496574" y="6220856"/>
            <a:ext cx="484909" cy="0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5C07FB-A1B6-477C-9E99-F963FAB3AC72}"/>
              </a:ext>
            </a:extLst>
          </p:cNvPr>
          <p:cNvSpPr txBox="1"/>
          <p:nvPr/>
        </p:nvSpPr>
        <p:spPr>
          <a:xfrm>
            <a:off x="334075" y="6082356"/>
            <a:ext cx="11624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하단 카테고리</a:t>
            </a:r>
          </a:p>
        </p:txBody>
      </p:sp>
      <p:graphicFrame>
        <p:nvGraphicFramePr>
          <p:cNvPr id="30" name="표 30">
            <a:extLst>
              <a:ext uri="{FF2B5EF4-FFF2-40B4-BE49-F238E27FC236}">
                <a16:creationId xmlns:a16="http://schemas.microsoft.com/office/drawing/2014/main" id="{FC5953CA-E814-4A3E-94AD-BB987B18BA02}"/>
              </a:ext>
            </a:extLst>
          </p:cNvPr>
          <p:cNvGraphicFramePr>
            <a:graphicFrameLocks noGrp="1"/>
          </p:cNvGraphicFramePr>
          <p:nvPr/>
        </p:nvGraphicFramePr>
        <p:xfrm>
          <a:off x="6998249" y="2345863"/>
          <a:ext cx="4566217" cy="33210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0528">
                  <a:extLst>
                    <a:ext uri="{9D8B030D-6E8A-4147-A177-3AD203B41FA5}">
                      <a16:colId xmlns:a16="http://schemas.microsoft.com/office/drawing/2014/main" val="3220769797"/>
                    </a:ext>
                  </a:extLst>
                </a:gridCol>
                <a:gridCol w="2925689">
                  <a:extLst>
                    <a:ext uri="{9D8B030D-6E8A-4147-A177-3AD203B41FA5}">
                      <a16:colId xmlns:a16="http://schemas.microsoft.com/office/drawing/2014/main" val="1592297759"/>
                    </a:ext>
                  </a:extLst>
                </a:gridCol>
              </a:tblGrid>
              <a:tr h="42016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종류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8336645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항공편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조회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도착지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날짜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인원 입력 후 탑승 가능 항공편 조회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0342297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홍보 및 공지 리스트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진행중인 기획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 err="1"/>
                        <a:t>홍보문</a:t>
                      </a:r>
                      <a:r>
                        <a:rPr lang="ko-KR" altLang="en-US" dirty="0"/>
                        <a:t> 및 안내사항 </a:t>
                      </a:r>
                      <a:r>
                        <a:rPr lang="ko-KR" altLang="en-US" dirty="0" err="1"/>
                        <a:t>게시란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6166411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여행 관련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서비스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여행 관련 서비스 지원</a:t>
                      </a:r>
                      <a:endParaRPr lang="en-US" altLang="ko-KR" dirty="0"/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업무 카테고리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98123138"/>
                  </a:ext>
                </a:extLst>
              </a:tr>
              <a:tr h="72521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하단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카테고리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부가적인 정보 안내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70615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588405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CE75C-2034-BFC9-0592-DB0E1B8282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34A46143-F792-C531-460B-0E1A248E7EE2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7A20F09-DBFE-A877-391E-BAA5DFA4FE25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03 </a:t>
            </a:r>
            <a:r>
              <a:rPr lang="ko-KR" altLang="en-US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레이아웃 </a:t>
            </a:r>
            <a:r>
              <a:rPr lang="en-US" altLang="ko-KR" sz="3000" b="1" dirty="0">
                <a:solidFill>
                  <a:prstClr val="black"/>
                </a:solidFill>
                <a:latin typeface="맑은 고딕" panose="020F0502020204030204"/>
                <a:ea typeface="맑은 고딕" panose="020B0503020000020004" pitchFamily="50" charset="-127"/>
              </a:rPr>
              <a:t>– Footer Area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FF432057-44F1-41B5-B709-D25E57D434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pic>
        <p:nvPicPr>
          <p:cNvPr id="8" name="그림 7" descr="텍스트, 스크린샷, 폰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36F34ED-4A08-A9E0-224C-338FE3C8A3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23" t="63336" r="5075"/>
          <a:stretch>
            <a:fillRect/>
          </a:stretch>
        </p:blipFill>
        <p:spPr>
          <a:xfrm>
            <a:off x="1040799" y="1769814"/>
            <a:ext cx="9972749" cy="177362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14B925F0-3E4F-42B5-8988-40F26438EF85}"/>
              </a:ext>
            </a:extLst>
          </p:cNvPr>
          <p:cNvGraphicFramePr>
            <a:graphicFrameLocks noGrp="1"/>
          </p:cNvGraphicFramePr>
          <p:nvPr/>
        </p:nvGraphicFramePr>
        <p:xfrm>
          <a:off x="1767076" y="4601497"/>
          <a:ext cx="8865200" cy="1376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3698">
                  <a:extLst>
                    <a:ext uri="{9D8B030D-6E8A-4147-A177-3AD203B41FA5}">
                      <a16:colId xmlns:a16="http://schemas.microsoft.com/office/drawing/2014/main" val="920101252"/>
                    </a:ext>
                  </a:extLst>
                </a:gridCol>
                <a:gridCol w="6841502">
                  <a:extLst>
                    <a:ext uri="{9D8B030D-6E8A-4147-A177-3AD203B41FA5}">
                      <a16:colId xmlns:a16="http://schemas.microsoft.com/office/drawing/2014/main" val="2540060926"/>
                    </a:ext>
                  </a:extLst>
                </a:gridCol>
              </a:tblGrid>
              <a:tr h="21617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이름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기능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64236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운영 </a:t>
                      </a:r>
                      <a:r>
                        <a:rPr lang="en-US" altLang="ko-KR" dirty="0"/>
                        <a:t>SNS </a:t>
                      </a:r>
                      <a:r>
                        <a:rPr lang="ko-KR" altLang="en-US" dirty="0"/>
                        <a:t>및 어플 설치 플랫폼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dirty="0"/>
                        <a:t>기업이 현재 운영 중인 </a:t>
                      </a:r>
                      <a:r>
                        <a:rPr lang="en-US" altLang="ko-KR" dirty="0"/>
                        <a:t>SNS </a:t>
                      </a:r>
                      <a:r>
                        <a:rPr lang="ko-KR" altLang="en-US" dirty="0"/>
                        <a:t>표시 및 설치 가능 스토어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538830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기업정보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/>
                        <a:t>기업의 기본 정보 표시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35161096"/>
                  </a:ext>
                </a:extLst>
              </a:tr>
            </a:tbl>
          </a:graphicData>
        </a:graphic>
      </p:graphicFrame>
      <p:sp>
        <p:nvSpPr>
          <p:cNvPr id="18" name="직사각형 17">
            <a:extLst>
              <a:ext uri="{FF2B5EF4-FFF2-40B4-BE49-F238E27FC236}">
                <a16:creationId xmlns:a16="http://schemas.microsoft.com/office/drawing/2014/main" id="{C045B42D-72D7-338D-39A2-8001DFA6C9A3}"/>
              </a:ext>
            </a:extLst>
          </p:cNvPr>
          <p:cNvSpPr/>
          <p:nvPr/>
        </p:nvSpPr>
        <p:spPr>
          <a:xfrm>
            <a:off x="1281076" y="2069570"/>
            <a:ext cx="4432600" cy="422227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34532BE-E9B4-717F-658D-51924208DF49}"/>
              </a:ext>
            </a:extLst>
          </p:cNvPr>
          <p:cNvSpPr txBox="1"/>
          <p:nvPr/>
        </p:nvSpPr>
        <p:spPr>
          <a:xfrm>
            <a:off x="6199676" y="2109325"/>
            <a:ext cx="13708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운영 </a:t>
            </a:r>
            <a:r>
              <a:rPr lang="en-US" altLang="ko-KR" sz="1200" dirty="0">
                <a:solidFill>
                  <a:schemeClr val="accent2"/>
                </a:solidFill>
              </a:rPr>
              <a:t>SNS </a:t>
            </a:r>
            <a:r>
              <a:rPr lang="ko-KR" altLang="en-US" sz="1200" dirty="0">
                <a:solidFill>
                  <a:schemeClr val="accent2"/>
                </a:solidFill>
              </a:rPr>
              <a:t>및</a:t>
            </a:r>
            <a:endParaRPr lang="en-US" altLang="ko-KR" sz="1200" dirty="0">
              <a:solidFill>
                <a:schemeClr val="accent2"/>
              </a:solidFill>
            </a:endParaRPr>
          </a:p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어플 설치 플랫폼</a:t>
            </a:r>
            <a:endParaRPr lang="en-US" altLang="ko-KR" sz="1200" dirty="0">
              <a:solidFill>
                <a:schemeClr val="accent2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7F087587-1BFB-3DEC-71E3-A930063B5606}"/>
              </a:ext>
            </a:extLst>
          </p:cNvPr>
          <p:cNvSpPr/>
          <p:nvPr/>
        </p:nvSpPr>
        <p:spPr>
          <a:xfrm>
            <a:off x="1281076" y="2551762"/>
            <a:ext cx="2471721" cy="879127"/>
          </a:xfrm>
          <a:prstGeom prst="rect">
            <a:avLst/>
          </a:prstGeom>
          <a:solidFill>
            <a:schemeClr val="accent1">
              <a:alpha val="0"/>
            </a:schemeClr>
          </a:solidFill>
          <a:ln w="34925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6" name="직선 화살표 연결선 15">
            <a:extLst>
              <a:ext uri="{FF2B5EF4-FFF2-40B4-BE49-F238E27FC236}">
                <a16:creationId xmlns:a16="http://schemas.microsoft.com/office/drawing/2014/main" id="{5D740B36-F76D-A86D-5DB9-1D2EA5729E64}"/>
              </a:ext>
            </a:extLst>
          </p:cNvPr>
          <p:cNvCxnSpPr/>
          <p:nvPr/>
        </p:nvCxnSpPr>
        <p:spPr>
          <a:xfrm>
            <a:off x="5713676" y="2300402"/>
            <a:ext cx="486000" cy="718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0509D2F0-B6A4-F323-9177-AB62A9C459AA}"/>
              </a:ext>
            </a:extLst>
          </p:cNvPr>
          <p:cNvSpPr txBox="1"/>
          <p:nvPr/>
        </p:nvSpPr>
        <p:spPr>
          <a:xfrm>
            <a:off x="2075218" y="3810756"/>
            <a:ext cx="85472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200" dirty="0">
                <a:solidFill>
                  <a:schemeClr val="accent2"/>
                </a:solidFill>
              </a:rPr>
              <a:t>기업정보 </a:t>
            </a:r>
          </a:p>
        </p:txBody>
      </p: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8D29774C-0D87-F62C-FA9E-DD919D5E93AD}"/>
              </a:ext>
            </a:extLst>
          </p:cNvPr>
          <p:cNvCxnSpPr/>
          <p:nvPr/>
        </p:nvCxnSpPr>
        <p:spPr>
          <a:xfrm>
            <a:off x="2502580" y="3441512"/>
            <a:ext cx="0" cy="314036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66263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04</a:t>
            </a:r>
            <a:r>
              <a:rPr lang="en-US" altLang="ko-KR" sz="3000" dirty="0"/>
              <a:t> Navigation</a:t>
            </a:r>
            <a:endParaRPr lang="ko-KR" altLang="en-US" sz="3000" dirty="0"/>
          </a:p>
        </p:txBody>
      </p:sp>
      <p:sp>
        <p:nvSpPr>
          <p:cNvPr id="16" name="타원 15">
            <a:extLst>
              <a:ext uri="{FF2B5EF4-FFF2-40B4-BE49-F238E27FC236}">
                <a16:creationId xmlns:a16="http://schemas.microsoft.com/office/drawing/2014/main" id="{EA966789-CB28-4CF4-9786-0E80CCCB0795}"/>
              </a:ext>
            </a:extLst>
          </p:cNvPr>
          <p:cNvSpPr/>
          <p:nvPr/>
        </p:nvSpPr>
        <p:spPr>
          <a:xfrm>
            <a:off x="742208" y="180847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7" name="타원 16">
            <a:extLst>
              <a:ext uri="{FF2B5EF4-FFF2-40B4-BE49-F238E27FC236}">
                <a16:creationId xmlns:a16="http://schemas.microsoft.com/office/drawing/2014/main" id="{7884F62D-7A51-4241-A177-216C5248CF6D}"/>
              </a:ext>
            </a:extLst>
          </p:cNvPr>
          <p:cNvSpPr/>
          <p:nvPr/>
        </p:nvSpPr>
        <p:spPr>
          <a:xfrm>
            <a:off x="4082977" y="180847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9D2BFAA-59F4-4820-BA8B-27EDD6F30862}"/>
              </a:ext>
            </a:extLst>
          </p:cNvPr>
          <p:cNvSpPr txBox="1"/>
          <p:nvPr/>
        </p:nvSpPr>
        <p:spPr>
          <a:xfrm>
            <a:off x="1576398" y="1948564"/>
            <a:ext cx="250657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tka Subheading" panose="02000505000000020004" pitchFamily="2" charset="0"/>
                <a:ea typeface="맑은 고딕" panose="020B0503020000020004" pitchFamily="50" charset="-127"/>
              </a:rPr>
              <a:t>간편한 구조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479CBB3-6736-4F9F-A648-975F9FFB0379}"/>
              </a:ext>
            </a:extLst>
          </p:cNvPr>
          <p:cNvSpPr txBox="1"/>
          <p:nvPr/>
        </p:nvSpPr>
        <p:spPr>
          <a:xfrm>
            <a:off x="4917167" y="1948563"/>
            <a:ext cx="242546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0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시각적 힌트</a:t>
            </a:r>
            <a:endParaRPr kumimoji="0" lang="ko-KR" altLang="en-US" sz="3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tka Subheading" panose="02000505000000020004" pitchFamily="2" charset="0"/>
              <a:ea typeface="맑은 고딕" panose="020B0503020000020004" pitchFamily="50" charset="-127"/>
            </a:endParaRPr>
          </a:p>
        </p:txBody>
      </p:sp>
      <p:sp>
        <p:nvSpPr>
          <p:cNvPr id="27" name="타원 26">
            <a:extLst>
              <a:ext uri="{FF2B5EF4-FFF2-40B4-BE49-F238E27FC236}">
                <a16:creationId xmlns:a16="http://schemas.microsoft.com/office/drawing/2014/main" id="{2494B1B2-06B3-4162-A9A4-CC6F412C3030}"/>
              </a:ext>
            </a:extLst>
          </p:cNvPr>
          <p:cNvSpPr/>
          <p:nvPr/>
        </p:nvSpPr>
        <p:spPr>
          <a:xfrm>
            <a:off x="7423746" y="1808472"/>
            <a:ext cx="834190" cy="834181"/>
          </a:xfrm>
          <a:prstGeom prst="ellipse">
            <a:avLst/>
          </a:prstGeom>
          <a:solidFill>
            <a:schemeClr val="accent5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506BA7A-E191-4391-8166-3A88201C3201}"/>
              </a:ext>
            </a:extLst>
          </p:cNvPr>
          <p:cNvSpPr txBox="1"/>
          <p:nvPr/>
        </p:nvSpPr>
        <p:spPr>
          <a:xfrm>
            <a:off x="8281478" y="1948563"/>
            <a:ext cx="319638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30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시각적</a:t>
            </a:r>
            <a:r>
              <a:rPr kumimoji="0" lang="ko-KR" altLang="en-US" sz="3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tka Subheading" panose="02000505000000020004" pitchFamily="2" charset="0"/>
                <a:ea typeface="맑은 고딕" panose="020B0503020000020004" pitchFamily="50" charset="-127"/>
              </a:rPr>
              <a:t> 최적화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05146E8-BD12-46F7-BBB4-699BE5782AC7}"/>
              </a:ext>
            </a:extLst>
          </p:cNvPr>
          <p:cNvSpPr txBox="1"/>
          <p:nvPr/>
        </p:nvSpPr>
        <p:spPr>
          <a:xfrm>
            <a:off x="760964" y="3676739"/>
            <a:ext cx="29236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사용자가 웹 사이트를 쉽게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itka Subheading" panose="02000505000000020004" pitchFamily="2" charset="0"/>
                <a:ea typeface="맑은 고딕" panose="020B0503020000020004" pitchFamily="50" charset="-127"/>
              </a:rPr>
              <a:t>탐색할 수 있도록</a:t>
            </a:r>
            <a:endParaRPr kumimoji="0" lang="en-US" altLang="ko-KR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단순하고 직관적인 네비게이션 구조를 설계했습니다</a:t>
            </a:r>
            <a:r>
              <a:rPr lang="en-US" altLang="ko-KR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48BB30A-9EAF-4E31-961B-9B78546B269A}"/>
              </a:ext>
            </a:extLst>
          </p:cNvPr>
          <p:cNvSpPr txBox="1"/>
          <p:nvPr/>
        </p:nvSpPr>
        <p:spPr>
          <a:xfrm>
            <a:off x="4135887" y="3676739"/>
            <a:ext cx="29236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사용자가 현재 위치를 파악할 수 있도록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활성화된 메뉴 항목을 시각적으로 강조했습니다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06B4354-CB0E-4826-9D05-3EC472CA5B00}"/>
              </a:ext>
            </a:extLst>
          </p:cNvPr>
          <p:cNvSpPr txBox="1"/>
          <p:nvPr/>
        </p:nvSpPr>
        <p:spPr>
          <a:xfrm>
            <a:off x="7621035" y="3676739"/>
            <a:ext cx="3026912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사용자가 사이트를 이용하기에 시각적으로 심플하면서</a:t>
            </a:r>
            <a:endParaRPr lang="en-US" altLang="ko-KR" sz="1600" dirty="0">
              <a:solidFill>
                <a:prstClr val="black"/>
              </a:solidFill>
              <a:latin typeface="Sitka Subheading" panose="02000505000000020004" pitchFamily="2" charset="0"/>
              <a:ea typeface="맑은 고딕" panose="020B0503020000020004" pitchFamily="50" charset="-127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직관적인 구조를 설계했습니다</a:t>
            </a:r>
            <a:r>
              <a:rPr lang="en-US" altLang="ko-KR" sz="1600" dirty="0">
                <a:solidFill>
                  <a:prstClr val="black"/>
                </a:solidFill>
                <a:latin typeface="Sitka Subheading" panose="02000505000000020004" pitchFamily="2" charset="0"/>
                <a:ea typeface="맑은 고딕" panose="020B0503020000020004" pitchFamily="50" charset="-127"/>
              </a:rPr>
              <a:t>.</a:t>
            </a:r>
          </a:p>
        </p:txBody>
      </p:sp>
      <p:pic>
        <p:nvPicPr>
          <p:cNvPr id="33" name="그림 32">
            <a:extLst>
              <a:ext uri="{FF2B5EF4-FFF2-40B4-BE49-F238E27FC236}">
                <a16:creationId xmlns:a16="http://schemas.microsoft.com/office/drawing/2014/main" id="{B65B80F4-1EF9-4C58-A52C-2166571CB73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84000E14-239C-46F7-888A-57EA6154A320}"/>
              </a:ext>
            </a:extLst>
          </p:cNvPr>
          <p:cNvSpPr/>
          <p:nvPr/>
        </p:nvSpPr>
        <p:spPr>
          <a:xfrm>
            <a:off x="722186" y="1743530"/>
            <a:ext cx="8742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5400" b="1" cap="none" spc="0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1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42CE51-3493-40F2-9D1B-F46F5BAF9C8D}"/>
              </a:ext>
            </a:extLst>
          </p:cNvPr>
          <p:cNvSpPr/>
          <p:nvPr/>
        </p:nvSpPr>
        <p:spPr>
          <a:xfrm>
            <a:off x="7432933" y="1743530"/>
            <a:ext cx="8742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3</a:t>
            </a:r>
            <a:endParaRPr lang="en-US" altLang="ko-KR" sz="5400" b="1" cap="none" spc="0" dirty="0">
              <a:ln w="10160">
                <a:solidFill>
                  <a:schemeClr val="accent5"/>
                </a:solidFill>
                <a:prstDash val="solid"/>
              </a:ln>
              <a:solidFill>
                <a:srgbClr val="FFFFFF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E2F3885F-AD53-4031-B736-7FE94E212F3A}"/>
              </a:ext>
            </a:extLst>
          </p:cNvPr>
          <p:cNvSpPr/>
          <p:nvPr/>
        </p:nvSpPr>
        <p:spPr>
          <a:xfrm>
            <a:off x="4062954" y="1719536"/>
            <a:ext cx="874235" cy="92333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altLang="ko-KR" sz="5400" b="1" dirty="0">
                <a:ln w="10160">
                  <a:solidFill>
                    <a:schemeClr val="accent5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92670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04</a:t>
            </a:r>
            <a:r>
              <a:rPr lang="en-US" altLang="ko-KR" sz="3000" dirty="0"/>
              <a:t> Navigation - Header</a:t>
            </a:r>
            <a:endParaRPr lang="ko-KR" altLang="en-US" sz="3000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E9E2B59C-6248-4D10-A576-A5EC0A5237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0C17E9E2-732B-4F86-90EB-A26570DB4E4F}"/>
              </a:ext>
            </a:extLst>
          </p:cNvPr>
          <p:cNvCxnSpPr>
            <a:cxnSpLocks/>
          </p:cNvCxnSpPr>
          <p:nvPr/>
        </p:nvCxnSpPr>
        <p:spPr>
          <a:xfrm>
            <a:off x="108539" y="4062049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1E5B354A-D982-4FE4-BB65-F5E6151CA859}"/>
              </a:ext>
            </a:extLst>
          </p:cNvPr>
          <p:cNvSpPr txBox="1"/>
          <p:nvPr/>
        </p:nvSpPr>
        <p:spPr>
          <a:xfrm>
            <a:off x="309715" y="3335461"/>
            <a:ext cx="674984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000" b="1" dirty="0">
                <a:solidFill>
                  <a:schemeClr val="accent5"/>
                </a:solidFill>
              </a:rPr>
              <a:t>04</a:t>
            </a:r>
            <a:r>
              <a:rPr lang="en-US" altLang="ko-KR" sz="3000" dirty="0"/>
              <a:t> Navigation – Contents Area</a:t>
            </a:r>
            <a:endParaRPr lang="ko-KR" altLang="en-US" sz="3000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711E933D-50CF-4656-8845-C68658AE74B5}"/>
              </a:ext>
            </a:extLst>
          </p:cNvPr>
          <p:cNvSpPr/>
          <p:nvPr/>
        </p:nvSpPr>
        <p:spPr>
          <a:xfrm>
            <a:off x="1114072" y="1595577"/>
            <a:ext cx="2363903" cy="75342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A50065E4-4F61-4ED5-AA9D-261DD3AB88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1508" y="1638804"/>
            <a:ext cx="2149032" cy="695275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04852790-1FEA-4B01-9A38-505C271497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6693" y="1711252"/>
            <a:ext cx="1107990" cy="553995"/>
          </a:xfrm>
          <a:prstGeom prst="rect">
            <a:avLst/>
          </a:prstGeom>
        </p:spPr>
      </p:pic>
      <p:sp>
        <p:nvSpPr>
          <p:cNvPr id="32" name="직사각형 31">
            <a:extLst>
              <a:ext uri="{FF2B5EF4-FFF2-40B4-BE49-F238E27FC236}">
                <a16:creationId xmlns:a16="http://schemas.microsoft.com/office/drawing/2014/main" id="{008C383D-843B-4369-B9F1-7F090B296CF3}"/>
              </a:ext>
            </a:extLst>
          </p:cNvPr>
          <p:cNvSpPr/>
          <p:nvPr/>
        </p:nvSpPr>
        <p:spPr>
          <a:xfrm>
            <a:off x="5174898" y="1580655"/>
            <a:ext cx="1181952" cy="768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4" name="그림 33">
            <a:extLst>
              <a:ext uri="{FF2B5EF4-FFF2-40B4-BE49-F238E27FC236}">
                <a16:creationId xmlns:a16="http://schemas.microsoft.com/office/drawing/2014/main" id="{F5CB41F4-8DEC-49D7-BCCE-1B385524E4F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86121" y="1617123"/>
            <a:ext cx="1558600" cy="716956"/>
          </a:xfrm>
          <a:prstGeom prst="rect">
            <a:avLst/>
          </a:prstGeom>
        </p:spPr>
      </p:pic>
      <p:sp>
        <p:nvSpPr>
          <p:cNvPr id="35" name="직사각형 34">
            <a:extLst>
              <a:ext uri="{FF2B5EF4-FFF2-40B4-BE49-F238E27FC236}">
                <a16:creationId xmlns:a16="http://schemas.microsoft.com/office/drawing/2014/main" id="{1A5D4A43-E45B-4138-8AE8-ED9C69AE248F}"/>
              </a:ext>
            </a:extLst>
          </p:cNvPr>
          <p:cNvSpPr/>
          <p:nvPr/>
        </p:nvSpPr>
        <p:spPr>
          <a:xfrm>
            <a:off x="8186122" y="1598659"/>
            <a:ext cx="1558599" cy="768343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37" name="그림 36">
            <a:extLst>
              <a:ext uri="{FF2B5EF4-FFF2-40B4-BE49-F238E27FC236}">
                <a16:creationId xmlns:a16="http://schemas.microsoft.com/office/drawing/2014/main" id="{C696E452-EAD9-4CE7-98A6-1BBA3A6E72D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9715" y="4219071"/>
            <a:ext cx="9391650" cy="100012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006C57AC-7CA8-4830-A424-9DE8768EA90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8539" y="5207986"/>
            <a:ext cx="11706472" cy="1066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7156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C8714BEE-D328-D9EB-A350-1A3FB6C0D2F5}"/>
              </a:ext>
            </a:extLst>
          </p:cNvPr>
          <p:cNvCxnSpPr>
            <a:cxnSpLocks/>
          </p:cNvCxnSpPr>
          <p:nvPr/>
        </p:nvCxnSpPr>
        <p:spPr>
          <a:xfrm>
            <a:off x="88491" y="1128252"/>
            <a:ext cx="11956025" cy="0"/>
          </a:xfrm>
          <a:prstGeom prst="line">
            <a:avLst/>
          </a:prstGeom>
          <a:ln w="28575">
            <a:solidFill>
              <a:schemeClr val="tx2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E5B10886-ADAD-6BC8-EC49-73469BF2D12A}"/>
              </a:ext>
            </a:extLst>
          </p:cNvPr>
          <p:cNvSpPr txBox="1"/>
          <p:nvPr/>
        </p:nvSpPr>
        <p:spPr>
          <a:xfrm>
            <a:off x="309716" y="329381"/>
            <a:ext cx="117348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3000" b="1" i="0" u="none" strike="noStrike" kern="1200" cap="none" spc="0" normalizeH="0" baseline="0" noProof="0" dirty="0">
                <a:ln>
                  <a:noFill/>
                </a:ln>
                <a:solidFill>
                  <a:srgbClr val="5B9BD5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05 </a:t>
            </a:r>
            <a:r>
              <a:rPr kumimoji="0" lang="ko-KR" altLang="en-US" sz="30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rPr>
              <a:t>구성요소 정의</a:t>
            </a:r>
            <a:endParaRPr kumimoji="0" lang="ko-KR" altLang="en-US" sz="3000" b="1" i="0" u="none" strike="noStrike" kern="1200" cap="none" spc="0" normalizeH="0" baseline="0" noProof="0" dirty="0">
              <a:ln>
                <a:noFill/>
              </a:ln>
              <a:solidFill>
                <a:srgbClr val="5B9BD5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D0B02D51-BA41-4DA5-AC5F-C3E910031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97198" y="126657"/>
            <a:ext cx="1206311" cy="1206311"/>
          </a:xfrm>
          <a:prstGeom prst="rect">
            <a:avLst/>
          </a:prstGeom>
        </p:spPr>
      </p:pic>
      <p:graphicFrame>
        <p:nvGraphicFramePr>
          <p:cNvPr id="2" name="표 2">
            <a:extLst>
              <a:ext uri="{FF2B5EF4-FFF2-40B4-BE49-F238E27FC236}">
                <a16:creationId xmlns:a16="http://schemas.microsoft.com/office/drawing/2014/main" id="{5EB3FE35-37F9-42C8-B197-50CF8006D305}"/>
              </a:ext>
            </a:extLst>
          </p:cNvPr>
          <p:cNvGraphicFramePr>
            <a:graphicFrameLocks noGrp="1"/>
          </p:cNvGraphicFramePr>
          <p:nvPr/>
        </p:nvGraphicFramePr>
        <p:xfrm>
          <a:off x="451637" y="1262713"/>
          <a:ext cx="11288726" cy="52659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10855">
                  <a:extLst>
                    <a:ext uri="{9D8B030D-6E8A-4147-A177-3AD203B41FA5}">
                      <a16:colId xmlns:a16="http://schemas.microsoft.com/office/drawing/2014/main" val="3430678741"/>
                    </a:ext>
                  </a:extLst>
                </a:gridCol>
                <a:gridCol w="8777871">
                  <a:extLst>
                    <a:ext uri="{9D8B030D-6E8A-4147-A177-3AD203B41FA5}">
                      <a16:colId xmlns:a16="http://schemas.microsoft.com/office/drawing/2014/main" val="2178654916"/>
                    </a:ext>
                  </a:extLst>
                </a:gridCol>
              </a:tblGrid>
              <a:tr h="721554">
                <a:tc>
                  <a:txBody>
                    <a:bodyPr/>
                    <a:lstStyle/>
                    <a:p>
                      <a:pPr lvl="0" algn="ctr" latinLnBrk="1"/>
                      <a:r>
                        <a:rPr lang="ko-KR" altLang="en-US" dirty="0"/>
                        <a:t>버튼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설정</a:t>
                      </a:r>
                      <a:endParaRPr lang="en-US" altLang="ko-KR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9064189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메인 화면으로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18153147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KOREANA </a:t>
                      </a:r>
                      <a:r>
                        <a:rPr lang="ko-KR" altLang="en-US" dirty="0"/>
                        <a:t>항공에 대한 설명페이지로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04954586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예약과 관련된</a:t>
                      </a:r>
                      <a:r>
                        <a:rPr lang="en-US" altLang="ko-KR" dirty="0"/>
                        <a:t> </a:t>
                      </a:r>
                      <a:r>
                        <a:rPr lang="ko-KR" altLang="en-US" dirty="0"/>
                        <a:t>정보를 나열하는 화면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33900929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여행준비와 관련된 정보를 나열하는 화면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8003596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로그인 화면으로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6148240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현재 진행중인 이벤트에 관한 페이지로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1493717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현 페이지의 언어 설정을 변경할 수 있는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4097495"/>
                  </a:ext>
                </a:extLst>
              </a:tr>
              <a:tr h="568044">
                <a:tc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키워드별로 정리한 고객들의 요구사항을 볼 수 있는 페이지로 이동하는 버튼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1651380"/>
                  </a:ext>
                </a:extLst>
              </a:tr>
            </a:tbl>
          </a:graphicData>
        </a:graphic>
      </p:graphicFrame>
      <p:pic>
        <p:nvPicPr>
          <p:cNvPr id="4" name="그림 3">
            <a:extLst>
              <a:ext uri="{FF2B5EF4-FFF2-40B4-BE49-F238E27FC236}">
                <a16:creationId xmlns:a16="http://schemas.microsoft.com/office/drawing/2014/main" id="{CC4027D9-3AD1-4B19-AF02-A2DE383288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268" y="2597315"/>
            <a:ext cx="1134696" cy="466213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4ADA6A7-8CA0-476B-9A95-92D86CCC16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6511" y="3176235"/>
            <a:ext cx="735353" cy="457422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80CF2DFC-28A2-4133-AF1E-158279773C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3069" y="3760554"/>
            <a:ext cx="829375" cy="411592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381D9EF4-B134-4614-9796-0999983942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3412" y="4327009"/>
            <a:ext cx="889955" cy="392733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1361D815-2E6D-4FCC-AD0D-61F54C73AEB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76140" y="2074444"/>
            <a:ext cx="1570115" cy="406253"/>
          </a:xfrm>
          <a:prstGeom prst="rect">
            <a:avLst/>
          </a:prstGeom>
        </p:spPr>
      </p:pic>
      <p:pic>
        <p:nvPicPr>
          <p:cNvPr id="26" name="그림 25">
            <a:extLst>
              <a:ext uri="{FF2B5EF4-FFF2-40B4-BE49-F238E27FC236}">
                <a16:creationId xmlns:a16="http://schemas.microsoft.com/office/drawing/2014/main" id="{AF7D757D-4E69-4E39-8D91-366B3FD0B9F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47936" y="4897138"/>
            <a:ext cx="865431" cy="422806"/>
          </a:xfrm>
          <a:prstGeom prst="rect">
            <a:avLst/>
          </a:prstGeom>
        </p:spPr>
      </p:pic>
      <p:pic>
        <p:nvPicPr>
          <p:cNvPr id="28" name="그림 27">
            <a:extLst>
              <a:ext uri="{FF2B5EF4-FFF2-40B4-BE49-F238E27FC236}">
                <a16:creationId xmlns:a16="http://schemas.microsoft.com/office/drawing/2014/main" id="{147D5836-CD79-4745-989C-3602B87D0CD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78780" y="5481038"/>
            <a:ext cx="1026263" cy="378435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EC5D4E84-5A59-4627-B699-B8A7369664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87157" y="6081240"/>
            <a:ext cx="1365426" cy="3194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39212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1539</TotalTime>
  <Words>478</Words>
  <Application>Microsoft Office PowerPoint</Application>
  <PresentationFormat>와이드스크린</PresentationFormat>
  <Paragraphs>142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Sitka Subheading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우균 정</dc:creator>
  <cp:lastModifiedBy>민재 김</cp:lastModifiedBy>
  <cp:revision>670</cp:revision>
  <dcterms:created xsi:type="dcterms:W3CDTF">2021-05-29T07:48:15Z</dcterms:created>
  <dcterms:modified xsi:type="dcterms:W3CDTF">2025-07-07T00:59:54Z</dcterms:modified>
</cp:coreProperties>
</file>