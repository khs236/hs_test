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4" r:id="rId2"/>
    <p:sldId id="265" r:id="rId3"/>
    <p:sldId id="476" r:id="rId4"/>
    <p:sldId id="492" r:id="rId5"/>
    <p:sldId id="493" r:id="rId6"/>
    <p:sldId id="494" r:id="rId7"/>
    <p:sldId id="495" r:id="rId8"/>
    <p:sldId id="496" r:id="rId9"/>
    <p:sldId id="482" r:id="rId10"/>
    <p:sldId id="483" r:id="rId11"/>
    <p:sldId id="49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EFF3FD"/>
    <a:srgbClr val="051766"/>
    <a:srgbClr val="BCE4F7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70C30-8012-4941-8EC7-F293906D307F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CCE28C-4AD8-4574-886D-F23870002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32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CCE28C-4AD8-4574-886D-F23870002D0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03064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AFEE98-AE57-4C35-B3AB-54A854D883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6F2A74-1662-44C0-9491-04254F28D8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1544ED-E500-4410-B279-2741CC5CB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C202FA-6742-408A-A94F-8496F959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C7155F-AA14-4227-9D00-0226B8B22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8310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53B8D-080B-4832-B0B6-71945C2CC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9176DF0-34EB-4ABB-A1BD-2E1705DD0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7832FF-E656-459E-AEED-31E5E49C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16E408-BF26-48DA-83E6-D9A8D2DF8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D1109-021D-4436-B59B-E918CFA6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191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AC1D3-B2D9-4CAF-8244-B47902D78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8A0F8A-4429-492E-9D32-C6F58161F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5DFE8-1E87-4CFA-B8D2-DD0B429ED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091558-B7F8-4228-8308-8EC79D65F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EA80B3-2F21-4299-ADCF-18C529BB2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4598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94F54-7FFE-42E9-9446-7D6A1193D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916265-E7EA-4E35-9B3B-B4F2EA136C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93E0EB-8D94-4E50-BE97-96E147E2B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EB43B7-8442-4889-8E4E-2485F81B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AC1D90E-DC97-433F-8B6E-F28DEC641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5269EB-2F76-4C1C-954B-01DC36942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082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9D4AF8-9D3F-4631-87E4-66EEB4F2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E6F389-14B4-4438-8FC0-D68EC0BCA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E52EA64-4263-42A1-BE0D-3BE6749C3A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47F20AA-71E4-4696-86AA-98EE0CB12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DE66F84-9F3C-40B8-8436-628DCF7E8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E8A6F0-3F4D-490C-96EA-D28CC49B0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6697743-44EB-42AB-BC71-1E92724B6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D5FAC3F-F386-4715-A47E-FE5B60E18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3629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A5ABAC-D7DE-4A30-9864-A0A37A46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799C937-5442-4F1E-9ECF-BC4C3146E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29E1B4F-B2C9-416C-8EF2-2C7AFC018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9DFC29-CF4B-4882-AD40-0A8C741EA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68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782943-06BA-4757-AF9E-BF9916B8F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1DC2A3F-74B3-4494-8404-79E33922F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985AE4-8F60-4076-9795-1F5BA6854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870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621D7-F636-4F05-93B0-CC82D2372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5323EE-8D83-4188-9217-048191A8B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306FBF-16AC-4892-AC73-7AD65E223D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0691C64-D6DC-4B7A-9E2C-66A18ADC0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8BBB8B-4581-4DB9-BC67-173A91284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01B404-60C3-4818-B99B-387779770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7492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9BAC6-946D-4398-BE2D-23054AB89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2AFB1C5-7341-48E3-B405-B9CC7312A8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825B74-02CD-437C-BC12-872DF9CE6F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3A1108-3E94-47BD-8596-9458A779B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E27E73-DF27-4A76-9BF9-B17AEBBEE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C09477-1395-4BB9-BF48-34671F4AF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648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545AC-D2FB-4276-90BC-5CFB7E136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413BAD4-EA38-4C3F-BE17-A9061ABD7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0DA258-5A79-48F2-88F3-D8B14D004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917A6-A169-411C-8C58-CDB04B754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7F4286-9AAE-4662-9A63-2EE591E67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640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2B522A5-A801-446E-A038-684EDCEE07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0D7A5B-3A2F-43F9-AD13-411C5E481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BD80F7-32C8-4637-84FA-A6D4A80B7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D59D84-375A-4A41-9621-409C6098E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1C021F-16A9-4E46-84EF-F7EF9F763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9072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C0E3A30-4189-4A39-8A90-F42EDE6D7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199C8E-355F-4229-8363-2AD756BBE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67704C-6573-4A32-944D-AEC4657AB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6AD91F-1311-4815-9A0E-3EAD573450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E54BEE-167F-4808-B590-1CE22C5A8E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558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">
              <a:schemeClr val="accent1">
                <a:lumMod val="5000"/>
                <a:lumOff val="95000"/>
              </a:schemeClr>
            </a:gs>
            <a:gs pos="37000">
              <a:schemeClr val="accent1">
                <a:lumMod val="45000"/>
                <a:lumOff val="55000"/>
              </a:schemeClr>
            </a:gs>
            <a:gs pos="69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/>
          <p:nvPr/>
        </p:nvCxnSpPr>
        <p:spPr>
          <a:xfrm>
            <a:off x="796415" y="3429000"/>
            <a:ext cx="10382864" cy="0"/>
          </a:xfrm>
          <a:prstGeom prst="line">
            <a:avLst/>
          </a:prstGeom>
          <a:ln w="57150">
            <a:solidFill>
              <a:srgbClr val="4472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97D056A-6397-1A84-4573-A3AED7B5F616}"/>
              </a:ext>
            </a:extLst>
          </p:cNvPr>
          <p:cNvSpPr txBox="1"/>
          <p:nvPr/>
        </p:nvSpPr>
        <p:spPr>
          <a:xfrm>
            <a:off x="722671" y="2521974"/>
            <a:ext cx="82816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/>
              <a:t>KOREANA AIR </a:t>
            </a:r>
            <a:r>
              <a:rPr lang="ko-KR" altLang="en-US" sz="4000" dirty="0"/>
              <a:t>항공사 홈페이지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EB7A9B7-7703-4B8A-92C4-EBCD06120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989" y="2272761"/>
            <a:ext cx="1206311" cy="12063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F4F307-93B4-4A85-BB02-87F1DFF267E4}"/>
              </a:ext>
            </a:extLst>
          </p:cNvPr>
          <p:cNvSpPr txBox="1"/>
          <p:nvPr/>
        </p:nvSpPr>
        <p:spPr>
          <a:xfrm>
            <a:off x="3708400" y="5391665"/>
            <a:ext cx="4356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조원</a:t>
            </a:r>
            <a:r>
              <a:rPr lang="en-US" altLang="ko-KR" b="1" dirty="0"/>
              <a:t>: </a:t>
            </a:r>
            <a:r>
              <a:rPr lang="ko-KR" altLang="en-US" b="1" dirty="0" err="1"/>
              <a:t>김홍섭</a:t>
            </a:r>
            <a:r>
              <a:rPr lang="en-US" altLang="ko-KR" b="1" dirty="0"/>
              <a:t>, </a:t>
            </a:r>
            <a:r>
              <a:rPr lang="ko-KR" altLang="en-US" b="1" dirty="0" err="1"/>
              <a:t>남규민</a:t>
            </a:r>
            <a:r>
              <a:rPr lang="en-US" altLang="ko-KR" b="1" dirty="0"/>
              <a:t>, </a:t>
            </a:r>
            <a:r>
              <a:rPr lang="ko-KR" altLang="en-US" b="1" dirty="0"/>
              <a:t>심예진</a:t>
            </a:r>
            <a:r>
              <a:rPr lang="en-US" altLang="ko-KR" b="1" dirty="0"/>
              <a:t>, </a:t>
            </a:r>
            <a:r>
              <a:rPr lang="ko-KR" altLang="en-US" b="1" dirty="0"/>
              <a:t>이수현</a:t>
            </a:r>
          </a:p>
        </p:txBody>
      </p:sp>
    </p:spTree>
    <p:extLst>
      <p:ext uri="{BB962C8B-B14F-4D97-AF65-F5344CB8AC3E}">
        <p14:creationId xmlns:p14="http://schemas.microsoft.com/office/powerpoint/2010/main" val="3301958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">
              <a:schemeClr val="accent1">
                <a:lumMod val="5000"/>
                <a:lumOff val="95000"/>
              </a:schemeClr>
            </a:gs>
            <a:gs pos="37000">
              <a:schemeClr val="accent1">
                <a:lumMod val="45000"/>
                <a:lumOff val="55000"/>
              </a:schemeClr>
            </a:gs>
            <a:gs pos="69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4380080" y="1459230"/>
            <a:ext cx="0" cy="3385542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1196874" y="2721114"/>
            <a:ext cx="237040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000" dirty="0"/>
              <a:t>INDEX</a:t>
            </a:r>
            <a:endParaRPr lang="ko-KR" altLang="en-US" sz="5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C659D7-B149-FA89-7B62-03E4909C1A65}"/>
              </a:ext>
            </a:extLst>
          </p:cNvPr>
          <p:cNvSpPr txBox="1"/>
          <p:nvPr/>
        </p:nvSpPr>
        <p:spPr>
          <a:xfrm>
            <a:off x="4771514" y="1459230"/>
            <a:ext cx="44441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1. </a:t>
            </a:r>
            <a:r>
              <a:rPr lang="ko-KR" altLang="en-US" sz="3000" dirty="0"/>
              <a:t>구동환경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370E9A-67F4-CA06-A570-74E5D00FB26F}"/>
              </a:ext>
            </a:extLst>
          </p:cNvPr>
          <p:cNvSpPr txBox="1"/>
          <p:nvPr/>
        </p:nvSpPr>
        <p:spPr>
          <a:xfrm>
            <a:off x="4771514" y="2167116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2. </a:t>
            </a:r>
            <a:r>
              <a:rPr lang="ko-KR" altLang="en-US" sz="3000" dirty="0"/>
              <a:t>디자인 요소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A72002-267B-4233-97FB-A6C5B60DAB8C}"/>
              </a:ext>
            </a:extLst>
          </p:cNvPr>
          <p:cNvSpPr txBox="1"/>
          <p:nvPr/>
        </p:nvSpPr>
        <p:spPr>
          <a:xfrm>
            <a:off x="4771514" y="2875002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3. </a:t>
            </a:r>
            <a:r>
              <a:rPr lang="ko-KR" altLang="en-US" sz="3000" dirty="0"/>
              <a:t>레이아웃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6D99DD-255B-4E50-B29D-3B659A225A5C}"/>
              </a:ext>
            </a:extLst>
          </p:cNvPr>
          <p:cNvSpPr txBox="1"/>
          <p:nvPr/>
        </p:nvSpPr>
        <p:spPr>
          <a:xfrm>
            <a:off x="4771514" y="3582888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4. Navigation</a:t>
            </a:r>
            <a:endParaRPr lang="ko-KR" altLang="en-US" sz="3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AA32B3-C5B0-4612-A2AC-4DD7CCF6D781}"/>
              </a:ext>
            </a:extLst>
          </p:cNvPr>
          <p:cNvSpPr txBox="1"/>
          <p:nvPr/>
        </p:nvSpPr>
        <p:spPr>
          <a:xfrm>
            <a:off x="4771514" y="4290774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5. </a:t>
            </a:r>
            <a:r>
              <a:rPr lang="ko-KR" altLang="en-US" sz="3000" dirty="0"/>
              <a:t>구성요소 정의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C5F7D64-7EB8-4D6B-AB3B-730FEA88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963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b="1" dirty="0">
                <a:solidFill>
                  <a:schemeClr val="accent5"/>
                </a:solidFill>
              </a:rPr>
              <a:t>01 </a:t>
            </a:r>
            <a:r>
              <a:rPr lang="ko-KR" altLang="en-US" sz="3000" b="1" dirty="0"/>
              <a:t>구동환경</a:t>
            </a:r>
            <a:endParaRPr lang="ko-KR" altLang="en-US" sz="3000" b="1" dirty="0">
              <a:solidFill>
                <a:schemeClr val="accent5"/>
              </a:solidFill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DA2DA4CA-4D00-48FF-B43C-62FF031EAD87}"/>
              </a:ext>
            </a:extLst>
          </p:cNvPr>
          <p:cNvSpPr/>
          <p:nvPr/>
        </p:nvSpPr>
        <p:spPr>
          <a:xfrm>
            <a:off x="1455878" y="1574580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2630905" y="1683486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000" dirty="0"/>
              <a:t>OS: Windows</a:t>
            </a:r>
            <a:endParaRPr lang="ko-KR" altLang="en-US" sz="3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65D32E-B2DC-4EAA-9AF7-F7B2C6825DF6}"/>
              </a:ext>
            </a:extLst>
          </p:cNvPr>
          <p:cNvSpPr txBox="1"/>
          <p:nvPr/>
        </p:nvSpPr>
        <p:spPr>
          <a:xfrm>
            <a:off x="2630905" y="2875002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000" dirty="0"/>
              <a:t>Browser:</a:t>
            </a:r>
            <a:r>
              <a:rPr lang="ko-KR" altLang="en-US" sz="3000" dirty="0"/>
              <a:t> </a:t>
            </a:r>
            <a:r>
              <a:rPr lang="en-US" altLang="ko-KR" sz="3000" dirty="0"/>
              <a:t>Chrome</a:t>
            </a:r>
            <a:endParaRPr lang="ko-KR" altLang="en-US" sz="3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2630905" y="4066518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해상도</a:t>
            </a:r>
            <a:r>
              <a:rPr lang="en-US" altLang="ko-KR" sz="3000" dirty="0"/>
              <a:t>:1920px X 1080px</a:t>
            </a:r>
            <a:endParaRPr lang="ko-KR" altLang="en-US" sz="3000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BA07C889-33CE-4A57-901D-73621F2E5A54}"/>
              </a:ext>
            </a:extLst>
          </p:cNvPr>
          <p:cNvSpPr/>
          <p:nvPr/>
        </p:nvSpPr>
        <p:spPr>
          <a:xfrm>
            <a:off x="1455878" y="2730960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B7EA33-E9BE-4F16-8A42-D5A1F4942257}"/>
              </a:ext>
            </a:extLst>
          </p:cNvPr>
          <p:cNvSpPr/>
          <p:nvPr/>
        </p:nvSpPr>
        <p:spPr>
          <a:xfrm>
            <a:off x="1451925" y="3934117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18D6FB45-E8C6-4283-9DED-525314CDB2A1}"/>
              </a:ext>
            </a:extLst>
          </p:cNvPr>
          <p:cNvSpPr/>
          <p:nvPr/>
        </p:nvSpPr>
        <p:spPr>
          <a:xfrm>
            <a:off x="1451925" y="5028191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5CCA0E-D872-4103-AEC0-E2B66362CBAE}"/>
              </a:ext>
            </a:extLst>
          </p:cNvPr>
          <p:cNvSpPr txBox="1"/>
          <p:nvPr/>
        </p:nvSpPr>
        <p:spPr>
          <a:xfrm>
            <a:off x="2630905" y="5137369"/>
            <a:ext cx="81333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3000" dirty="0"/>
              <a:t>레이아웃  </a:t>
            </a:r>
            <a:r>
              <a:rPr lang="en-US" altLang="ko-KR" sz="3000" dirty="0"/>
              <a:t>-</a:t>
            </a:r>
            <a:r>
              <a:rPr lang="ko-KR" altLang="en-US" sz="3000" dirty="0"/>
              <a:t>화면구조</a:t>
            </a:r>
            <a:r>
              <a:rPr lang="en-US" altLang="ko-KR" sz="3000" dirty="0"/>
              <a:t>- -</a:t>
            </a:r>
            <a:r>
              <a:rPr lang="ko-KR" altLang="en-US" sz="3000" dirty="0"/>
              <a:t>상단메뉴</a:t>
            </a:r>
            <a:r>
              <a:rPr lang="en-US" altLang="ko-KR" sz="3000" dirty="0"/>
              <a:t>- -Navigation</a:t>
            </a:r>
          </a:p>
          <a:p>
            <a:pPr algn="ctr"/>
            <a:r>
              <a:rPr lang="en-US" altLang="ko-KR" sz="3000" dirty="0"/>
              <a:t>-Contents Area- -Footer Area             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3BC17FF-49B7-4054-A64D-DB298C911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724CBE0-9B42-4F2F-A661-C3BF435A5767}"/>
              </a:ext>
            </a:extLst>
          </p:cNvPr>
          <p:cNvSpPr/>
          <p:nvPr/>
        </p:nvSpPr>
        <p:spPr>
          <a:xfrm>
            <a:off x="1596307" y="1502569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1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39B659B-C841-4C47-8245-62222BE73B17}"/>
              </a:ext>
            </a:extLst>
          </p:cNvPr>
          <p:cNvSpPr/>
          <p:nvPr/>
        </p:nvSpPr>
        <p:spPr>
          <a:xfrm>
            <a:off x="1580265" y="4983616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4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BB7DB43-7976-483E-9407-C4AB6254BD3D}"/>
              </a:ext>
            </a:extLst>
          </p:cNvPr>
          <p:cNvSpPr/>
          <p:nvPr/>
        </p:nvSpPr>
        <p:spPr>
          <a:xfrm>
            <a:off x="1596307" y="3895168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3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03CA4C5-CD57-43E2-9170-47E3BCC69E25}"/>
              </a:ext>
            </a:extLst>
          </p:cNvPr>
          <p:cNvSpPr/>
          <p:nvPr/>
        </p:nvSpPr>
        <p:spPr>
          <a:xfrm>
            <a:off x="1596307" y="2686385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2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271015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02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디자인 요소</a:t>
            </a:r>
            <a:endParaRPr kumimoji="0" lang="ko-KR" altLang="en-US" sz="3000" b="1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DA2DA4CA-4D00-48FF-B43C-62FF031EAD87}"/>
              </a:ext>
            </a:extLst>
          </p:cNvPr>
          <p:cNvSpPr/>
          <p:nvPr/>
        </p:nvSpPr>
        <p:spPr>
          <a:xfrm>
            <a:off x="1427747" y="2085474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2630905" y="2225565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로고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65D32E-B2DC-4EAA-9AF7-F7B2C6825DF6}"/>
              </a:ext>
            </a:extLst>
          </p:cNvPr>
          <p:cNvSpPr txBox="1"/>
          <p:nvPr/>
        </p:nvSpPr>
        <p:spPr>
          <a:xfrm>
            <a:off x="2630905" y="3472922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폰트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2630905" y="4720279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색상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BA07C889-33CE-4A57-901D-73621F2E5A54}"/>
              </a:ext>
            </a:extLst>
          </p:cNvPr>
          <p:cNvSpPr/>
          <p:nvPr/>
        </p:nvSpPr>
        <p:spPr>
          <a:xfrm>
            <a:off x="1427747" y="3334797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B7EA33-E9BE-4F16-8A42-D5A1F4942257}"/>
              </a:ext>
            </a:extLst>
          </p:cNvPr>
          <p:cNvSpPr/>
          <p:nvPr/>
        </p:nvSpPr>
        <p:spPr>
          <a:xfrm>
            <a:off x="1427747" y="4584120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40C9FA7-9EEF-4B1B-8D6E-EE6CD3F53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EC23A60-7E2A-473B-B14E-12E5C6FB5793}"/>
              </a:ext>
            </a:extLst>
          </p:cNvPr>
          <p:cNvSpPr/>
          <p:nvPr/>
        </p:nvSpPr>
        <p:spPr>
          <a:xfrm>
            <a:off x="1552133" y="2040899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1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6F95AE2-4E90-4857-8ECF-F0DEF0D87CF2}"/>
              </a:ext>
            </a:extLst>
          </p:cNvPr>
          <p:cNvSpPr/>
          <p:nvPr/>
        </p:nvSpPr>
        <p:spPr>
          <a:xfrm>
            <a:off x="1552132" y="3288256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2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46C42D1-CC2F-49A5-871D-50792C528FEA}"/>
              </a:ext>
            </a:extLst>
          </p:cNvPr>
          <p:cNvSpPr/>
          <p:nvPr/>
        </p:nvSpPr>
        <p:spPr>
          <a:xfrm>
            <a:off x="1568296" y="4535613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3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93966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02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디자인 요소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lang="ko-KR" altLang="en-US" sz="3000" b="1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로고</a:t>
            </a:r>
            <a:endParaRPr kumimoji="0" lang="ko-KR" altLang="en-US" sz="3000" b="1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-1235242" y="2228671"/>
            <a:ext cx="1219200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●  전통 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+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미래 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+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연결성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     태극은 한국 정체성과 조화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비행기는 글로벌 비전과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                 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이동성을 상징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    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두 요소의 교차는 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KOREANA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항공의 철학 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–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전통과 현대</a:t>
            </a:r>
            <a:endParaRPr lang="en-US" altLang="ko-KR" sz="2500" dirty="0">
              <a:solidFill>
                <a:prstClr val="black"/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    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지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역과 세계를 잇는 연결을 담고 있음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-1235242" y="5175748"/>
            <a:ext cx="1219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            ●  로고는 </a:t>
            </a:r>
            <a:r>
              <a:rPr lang="en-US" altLang="ko-KR" sz="2500" dirty="0" err="1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BrandCrowd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사이트를 참고하였음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BF967E6-66AD-4B60-95B1-918ED320DF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736" y="1883177"/>
            <a:ext cx="4329606" cy="432960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0B02D51-BA41-4DA5-AC5F-C3E910031E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64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02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디자인 요소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폰트</a:t>
            </a:r>
            <a:endParaRPr kumimoji="0" lang="ko-KR" altLang="en-US" sz="3000" b="1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0" y="2228671"/>
            <a:ext cx="864669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●  폰트는 가독성을 높이기 위해 두개의 폰트만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   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사용하였다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                     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0" y="5175748"/>
            <a:ext cx="1095675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●  지원되는 폰트의 종류에 제약이 없어 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Instrument Sans, Inter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두가지의</a:t>
            </a:r>
            <a:endParaRPr lang="en-US" altLang="ko-KR" sz="2500" dirty="0">
              <a:solidFill>
                <a:prstClr val="black"/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500" noProof="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    </a:t>
            </a:r>
            <a:r>
              <a:rPr lang="ko-KR" altLang="en-US" sz="2500" noProof="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폰트를 사용하였다</a:t>
            </a:r>
            <a:r>
              <a:rPr lang="en-US" altLang="ko-KR" sz="2500" noProof="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0B02D51-BA41-4DA5-AC5F-C3E910031E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09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02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디자인 요소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색상</a:t>
            </a:r>
            <a:endParaRPr kumimoji="0" lang="ko-KR" altLang="en-US" sz="3000" b="1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-1113886" y="2171963"/>
            <a:ext cx="1095675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●  사용자의 눈에 부담을 주지 않기 위해 단색 계열의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     색상을 사용하였다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0B02D51-BA41-4DA5-AC5F-C3E910031E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EFB474D-7BB7-4D96-AFE2-E91A3ED476E9}"/>
              </a:ext>
            </a:extLst>
          </p:cNvPr>
          <p:cNvSpPr/>
          <p:nvPr/>
        </p:nvSpPr>
        <p:spPr>
          <a:xfrm>
            <a:off x="3241546" y="3429000"/>
            <a:ext cx="1187116" cy="994606"/>
          </a:xfrm>
          <a:prstGeom prst="rect">
            <a:avLst/>
          </a:prstGeom>
          <a:solidFill>
            <a:srgbClr val="BCE4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4472C4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0286F5C-EE1F-4B79-99D8-1B033D695C2E}"/>
              </a:ext>
            </a:extLst>
          </p:cNvPr>
          <p:cNvSpPr/>
          <p:nvPr/>
        </p:nvSpPr>
        <p:spPr>
          <a:xfrm>
            <a:off x="4428662" y="3429000"/>
            <a:ext cx="1187116" cy="994606"/>
          </a:xfrm>
          <a:prstGeom prst="rect">
            <a:avLst/>
          </a:prstGeom>
          <a:solidFill>
            <a:srgbClr val="05176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4472C4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585F0-56C7-476D-B970-DA390C3AA15E}"/>
              </a:ext>
            </a:extLst>
          </p:cNvPr>
          <p:cNvSpPr/>
          <p:nvPr/>
        </p:nvSpPr>
        <p:spPr>
          <a:xfrm>
            <a:off x="5615778" y="3429000"/>
            <a:ext cx="1187116" cy="994606"/>
          </a:xfrm>
          <a:prstGeom prst="rect">
            <a:avLst/>
          </a:prstGeom>
          <a:solidFill>
            <a:srgbClr val="EFF3F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4472C4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1968109-3015-4E4C-870E-74900B415A31}"/>
              </a:ext>
            </a:extLst>
          </p:cNvPr>
          <p:cNvSpPr/>
          <p:nvPr/>
        </p:nvSpPr>
        <p:spPr>
          <a:xfrm>
            <a:off x="6802894" y="3429000"/>
            <a:ext cx="1187116" cy="994606"/>
          </a:xfrm>
          <a:prstGeom prst="rect">
            <a:avLst/>
          </a:prstGeom>
          <a:solidFill>
            <a:srgbClr val="F7F7F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4472C4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B92F24-2D73-4CB3-ADF4-1C8CAE9C2DC8}"/>
              </a:ext>
            </a:extLst>
          </p:cNvPr>
          <p:cNvSpPr txBox="1"/>
          <p:nvPr/>
        </p:nvSpPr>
        <p:spPr>
          <a:xfrm>
            <a:off x="3241546" y="4376894"/>
            <a:ext cx="11871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RGB</a:t>
            </a:r>
          </a:p>
          <a:p>
            <a:pPr algn="ctr"/>
            <a:r>
              <a:rPr lang="en-US" altLang="ko-KR" dirty="0"/>
              <a:t>R: 118</a:t>
            </a:r>
          </a:p>
          <a:p>
            <a:pPr algn="ctr"/>
            <a:r>
              <a:rPr lang="en-US" altLang="ko-KR" dirty="0"/>
              <a:t>G: 228</a:t>
            </a:r>
          </a:p>
          <a:p>
            <a:pPr algn="ctr"/>
            <a:r>
              <a:rPr lang="en-US" altLang="ko-KR" dirty="0"/>
              <a:t>B: 247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A7BA45-D544-4D91-BACD-52BBEEFAC08B}"/>
              </a:ext>
            </a:extLst>
          </p:cNvPr>
          <p:cNvSpPr txBox="1"/>
          <p:nvPr/>
        </p:nvSpPr>
        <p:spPr>
          <a:xfrm>
            <a:off x="4428662" y="4383095"/>
            <a:ext cx="11871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RGB</a:t>
            </a:r>
          </a:p>
          <a:p>
            <a:pPr algn="ctr"/>
            <a:r>
              <a:rPr lang="en-US" altLang="ko-KR" dirty="0"/>
              <a:t>R: 5</a:t>
            </a:r>
          </a:p>
          <a:p>
            <a:pPr algn="ctr"/>
            <a:r>
              <a:rPr lang="en-US" altLang="ko-KR" dirty="0"/>
              <a:t>G:23 </a:t>
            </a:r>
          </a:p>
          <a:p>
            <a:pPr algn="ctr"/>
            <a:r>
              <a:rPr lang="en-US" altLang="ko-KR" dirty="0"/>
              <a:t>B: 102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0C38DD-C9F5-42A1-9D6E-CD03376037D3}"/>
              </a:ext>
            </a:extLst>
          </p:cNvPr>
          <p:cNvSpPr txBox="1"/>
          <p:nvPr/>
        </p:nvSpPr>
        <p:spPr>
          <a:xfrm>
            <a:off x="5615778" y="4375110"/>
            <a:ext cx="11871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RGB</a:t>
            </a:r>
          </a:p>
          <a:p>
            <a:pPr algn="ctr"/>
            <a:r>
              <a:rPr lang="en-US" altLang="ko-KR" dirty="0"/>
              <a:t>R: 239</a:t>
            </a:r>
          </a:p>
          <a:p>
            <a:pPr algn="ctr"/>
            <a:r>
              <a:rPr lang="en-US" altLang="ko-KR" dirty="0"/>
              <a:t>G: 243</a:t>
            </a:r>
          </a:p>
          <a:p>
            <a:pPr algn="ctr"/>
            <a:r>
              <a:rPr lang="en-US" altLang="ko-KR" dirty="0"/>
              <a:t>B: 253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FCA642-0416-4AD4-8548-8A50151131ED}"/>
              </a:ext>
            </a:extLst>
          </p:cNvPr>
          <p:cNvSpPr txBox="1"/>
          <p:nvPr/>
        </p:nvSpPr>
        <p:spPr>
          <a:xfrm>
            <a:off x="6802894" y="4367125"/>
            <a:ext cx="11871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RGB</a:t>
            </a:r>
          </a:p>
          <a:p>
            <a:pPr algn="ctr"/>
            <a:r>
              <a:rPr lang="en-US" altLang="ko-KR" dirty="0"/>
              <a:t>R: 247</a:t>
            </a:r>
          </a:p>
          <a:p>
            <a:pPr algn="ctr"/>
            <a:r>
              <a:rPr lang="en-US" altLang="ko-KR" dirty="0"/>
              <a:t>G: 247</a:t>
            </a:r>
          </a:p>
          <a:p>
            <a:pPr algn="ctr"/>
            <a:r>
              <a:rPr lang="en-US" altLang="ko-KR" dirty="0"/>
              <a:t>B: 247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0449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b="1" dirty="0">
                <a:solidFill>
                  <a:schemeClr val="accent5"/>
                </a:solidFill>
              </a:rPr>
              <a:t>01 </a:t>
            </a:r>
            <a:r>
              <a:rPr lang="ko-KR" altLang="en-US" sz="3000" b="1" dirty="0"/>
              <a:t>디자인 원칙</a:t>
            </a:r>
            <a:endParaRPr lang="ko-KR" altLang="en-US" sz="3000" b="1" dirty="0">
              <a:solidFill>
                <a:schemeClr val="accent5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2630905" y="1683486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폰트 선택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65D32E-B2DC-4EAA-9AF7-F7B2C6825DF6}"/>
              </a:ext>
            </a:extLst>
          </p:cNvPr>
          <p:cNvSpPr txBox="1"/>
          <p:nvPr/>
        </p:nvSpPr>
        <p:spPr>
          <a:xfrm>
            <a:off x="2630905" y="2875002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색상 조합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2630905" y="4066518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이미지 사용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5CCA0E-D872-4103-AEC0-E2B66362CBAE}"/>
              </a:ext>
            </a:extLst>
          </p:cNvPr>
          <p:cNvSpPr txBox="1"/>
          <p:nvPr/>
        </p:nvSpPr>
        <p:spPr>
          <a:xfrm>
            <a:off x="2630905" y="5137369"/>
            <a:ext cx="813334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상세한 </a:t>
            </a:r>
            <a:r>
              <a:rPr lang="en-US" altLang="ko-KR" sz="3000" dirty="0"/>
              <a:t>UI </a:t>
            </a:r>
            <a:r>
              <a:rPr lang="ko-KR" altLang="en-US" sz="3000" dirty="0"/>
              <a:t>가이드라인</a:t>
            </a:r>
            <a:endParaRPr lang="en-US" altLang="ko-KR" sz="3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3BC17FF-49B7-4054-A64D-DB298C911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  <p:sp>
        <p:nvSpPr>
          <p:cNvPr id="26" name="타원 25">
            <a:extLst>
              <a:ext uri="{FF2B5EF4-FFF2-40B4-BE49-F238E27FC236}">
                <a16:creationId xmlns:a16="http://schemas.microsoft.com/office/drawing/2014/main" id="{A3FF25D0-DEA3-4996-8C40-3FE7F74D2DBC}"/>
              </a:ext>
            </a:extLst>
          </p:cNvPr>
          <p:cNvSpPr/>
          <p:nvPr/>
        </p:nvSpPr>
        <p:spPr>
          <a:xfrm>
            <a:off x="1455878" y="1574580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8B4C4E1-2431-449F-9015-E2F0FBD3A492}"/>
              </a:ext>
            </a:extLst>
          </p:cNvPr>
          <p:cNvSpPr/>
          <p:nvPr/>
        </p:nvSpPr>
        <p:spPr>
          <a:xfrm>
            <a:off x="1455878" y="2730960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E4AB592-9C69-4D41-85B5-893B233F0FD1}"/>
              </a:ext>
            </a:extLst>
          </p:cNvPr>
          <p:cNvSpPr/>
          <p:nvPr/>
        </p:nvSpPr>
        <p:spPr>
          <a:xfrm>
            <a:off x="1451925" y="3934117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ACD1FCBC-31B8-4BDC-BF22-7EB758B490CF}"/>
              </a:ext>
            </a:extLst>
          </p:cNvPr>
          <p:cNvSpPr/>
          <p:nvPr/>
        </p:nvSpPr>
        <p:spPr>
          <a:xfrm>
            <a:off x="1451925" y="5028191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CAFF306-C22D-4CB8-8DC7-86DBCADB1612}"/>
              </a:ext>
            </a:extLst>
          </p:cNvPr>
          <p:cNvSpPr/>
          <p:nvPr/>
        </p:nvSpPr>
        <p:spPr>
          <a:xfrm>
            <a:off x="1596307" y="1502569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1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6C55B5-BA7B-4851-8358-9CFE8C2036AF}"/>
              </a:ext>
            </a:extLst>
          </p:cNvPr>
          <p:cNvSpPr/>
          <p:nvPr/>
        </p:nvSpPr>
        <p:spPr>
          <a:xfrm>
            <a:off x="1580265" y="4983616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4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CE72E55-B599-43B6-84F3-7D01AA638084}"/>
              </a:ext>
            </a:extLst>
          </p:cNvPr>
          <p:cNvSpPr/>
          <p:nvPr/>
        </p:nvSpPr>
        <p:spPr>
          <a:xfrm>
            <a:off x="1596307" y="3895168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3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A1BEE7E-0E96-4443-9AF2-D343BED6B137}"/>
              </a:ext>
            </a:extLst>
          </p:cNvPr>
          <p:cNvSpPr/>
          <p:nvPr/>
        </p:nvSpPr>
        <p:spPr>
          <a:xfrm>
            <a:off x="1596307" y="2686385"/>
            <a:ext cx="5854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2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69649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67498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b="1" dirty="0">
                <a:solidFill>
                  <a:schemeClr val="accent5"/>
                </a:solidFill>
              </a:rPr>
              <a:t>04</a:t>
            </a:r>
            <a:r>
              <a:rPr lang="en-US" altLang="ko-KR" sz="3000" dirty="0"/>
              <a:t> Navigation</a:t>
            </a:r>
            <a:endParaRPr lang="ko-KR" altLang="en-US" sz="3000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EA966789-CB28-4CF4-9786-0E80CCCB0795}"/>
              </a:ext>
            </a:extLst>
          </p:cNvPr>
          <p:cNvSpPr/>
          <p:nvPr/>
        </p:nvSpPr>
        <p:spPr>
          <a:xfrm>
            <a:off x="742208" y="1808472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7884F62D-7A51-4241-A177-216C5248CF6D}"/>
              </a:ext>
            </a:extLst>
          </p:cNvPr>
          <p:cNvSpPr/>
          <p:nvPr/>
        </p:nvSpPr>
        <p:spPr>
          <a:xfrm>
            <a:off x="4082977" y="1808472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D2BFAA-59F4-4820-BA8B-27EDD6F30862}"/>
              </a:ext>
            </a:extLst>
          </p:cNvPr>
          <p:cNvSpPr txBox="1"/>
          <p:nvPr/>
        </p:nvSpPr>
        <p:spPr>
          <a:xfrm>
            <a:off x="1576398" y="1948564"/>
            <a:ext cx="250657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itka Subheading" panose="02000505000000020004" pitchFamily="2" charset="0"/>
                <a:ea typeface="맑은 고딕" panose="020B0503020000020004" pitchFamily="50" charset="-127"/>
              </a:rPr>
              <a:t>간편한 구조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79CBB3-6736-4F9F-A648-975F9FFB0379}"/>
              </a:ext>
            </a:extLst>
          </p:cNvPr>
          <p:cNvSpPr txBox="1"/>
          <p:nvPr/>
        </p:nvSpPr>
        <p:spPr>
          <a:xfrm>
            <a:off x="4917167" y="1948563"/>
            <a:ext cx="242546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0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시각적 힌트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itka Subheading" panose="02000505000000020004" pitchFamily="2" charset="0"/>
              <a:ea typeface="맑은 고딕" panose="020B0503020000020004" pitchFamily="50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494B1B2-06B3-4162-A9A4-CC6F412C3030}"/>
              </a:ext>
            </a:extLst>
          </p:cNvPr>
          <p:cNvSpPr/>
          <p:nvPr/>
        </p:nvSpPr>
        <p:spPr>
          <a:xfrm>
            <a:off x="7423746" y="1808472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06BA7A-E191-4391-8166-3A88201C3201}"/>
              </a:ext>
            </a:extLst>
          </p:cNvPr>
          <p:cNvSpPr txBox="1"/>
          <p:nvPr/>
        </p:nvSpPr>
        <p:spPr>
          <a:xfrm>
            <a:off x="8281478" y="1948563"/>
            <a:ext cx="31963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0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시각적</a:t>
            </a: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itka Subheading" panose="02000505000000020004" pitchFamily="2" charset="0"/>
                <a:ea typeface="맑은 고딕" panose="020B0503020000020004" pitchFamily="50" charset="-127"/>
              </a:rPr>
              <a:t> 최적화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5146E8-BD12-46F7-BBB4-699BE5782AC7}"/>
              </a:ext>
            </a:extLst>
          </p:cNvPr>
          <p:cNvSpPr txBox="1"/>
          <p:nvPr/>
        </p:nvSpPr>
        <p:spPr>
          <a:xfrm>
            <a:off x="760964" y="3676739"/>
            <a:ext cx="29236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사용자가 웹 사이트를 쉽게</a:t>
            </a:r>
            <a:endParaRPr lang="en-US" altLang="ko-KR" sz="1600" dirty="0">
              <a:solidFill>
                <a:prstClr val="black"/>
              </a:solidFill>
              <a:latin typeface="Sitka Subheading" panose="02000505000000020004" pitchFamily="2" charset="0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itka Subheading" panose="02000505000000020004" pitchFamily="2" charset="0"/>
                <a:ea typeface="맑은 고딕" panose="020B0503020000020004" pitchFamily="50" charset="-127"/>
              </a:rPr>
              <a:t>탐색할 수 있도록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itka Subheading" panose="02000505000000020004" pitchFamily="2" charset="0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단순하고 직관적인 네비게이션 구조를 설계했습니다</a:t>
            </a:r>
            <a:r>
              <a:rPr lang="en-US" altLang="ko-KR" sz="16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8BB30A-9EAF-4E31-961B-9B78546B269A}"/>
              </a:ext>
            </a:extLst>
          </p:cNvPr>
          <p:cNvSpPr txBox="1"/>
          <p:nvPr/>
        </p:nvSpPr>
        <p:spPr>
          <a:xfrm>
            <a:off x="4135887" y="3676739"/>
            <a:ext cx="29236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사용자가 현재 위치를 파악할 수 있도록</a:t>
            </a:r>
            <a:endParaRPr lang="en-US" altLang="ko-KR" sz="1600" dirty="0">
              <a:solidFill>
                <a:prstClr val="black"/>
              </a:solidFill>
              <a:latin typeface="Sitka Subheading" panose="02000505000000020004" pitchFamily="2" charset="0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활성화된 메뉴 항목을 시각적으로 강조했습니다</a:t>
            </a:r>
            <a:endParaRPr lang="en-US" altLang="ko-KR" sz="1600" dirty="0">
              <a:solidFill>
                <a:prstClr val="black"/>
              </a:solidFill>
              <a:latin typeface="Sitka Subheading" panose="02000505000000020004" pitchFamily="2" charset="0"/>
              <a:ea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6B4354-CB0E-4826-9D05-3EC472CA5B00}"/>
              </a:ext>
            </a:extLst>
          </p:cNvPr>
          <p:cNvSpPr txBox="1"/>
          <p:nvPr/>
        </p:nvSpPr>
        <p:spPr>
          <a:xfrm>
            <a:off x="7621035" y="3676739"/>
            <a:ext cx="30269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사용자가 사이트를 이용하기에 시각적으로 심플하면서</a:t>
            </a:r>
            <a:endParaRPr lang="en-US" altLang="ko-KR" sz="1600" dirty="0">
              <a:solidFill>
                <a:prstClr val="black"/>
              </a:solidFill>
              <a:latin typeface="Sitka Subheading" panose="02000505000000020004" pitchFamily="2" charset="0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직관적인 구조를 설계했습니다</a:t>
            </a:r>
            <a:r>
              <a:rPr lang="en-US" altLang="ko-KR" sz="1600" dirty="0">
                <a:solidFill>
                  <a:prstClr val="black"/>
                </a:solidFill>
                <a:latin typeface="Sitka Subheading" panose="02000505000000020004" pitchFamily="2" charset="0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B65B80F4-1EF9-4C58-A52C-2166571CB7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4000E14-239C-46F7-888A-57EA6154A320}"/>
              </a:ext>
            </a:extLst>
          </p:cNvPr>
          <p:cNvSpPr/>
          <p:nvPr/>
        </p:nvSpPr>
        <p:spPr>
          <a:xfrm>
            <a:off x="722186" y="1743530"/>
            <a:ext cx="87423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5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1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E42CE51-3493-40F2-9D1B-F46F5BAF9C8D}"/>
              </a:ext>
            </a:extLst>
          </p:cNvPr>
          <p:cNvSpPr/>
          <p:nvPr/>
        </p:nvSpPr>
        <p:spPr>
          <a:xfrm>
            <a:off x="7432933" y="1743530"/>
            <a:ext cx="87423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3</a:t>
            </a:r>
            <a:endParaRPr lang="en-US" altLang="ko-KR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2F3885F-AD53-4031-B736-7FE94E212F3A}"/>
              </a:ext>
            </a:extLst>
          </p:cNvPr>
          <p:cNvSpPr/>
          <p:nvPr/>
        </p:nvSpPr>
        <p:spPr>
          <a:xfrm>
            <a:off x="4062954" y="1719536"/>
            <a:ext cx="87423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92670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67498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b="1" dirty="0">
                <a:solidFill>
                  <a:schemeClr val="accent5"/>
                </a:solidFill>
              </a:rPr>
              <a:t>04</a:t>
            </a:r>
            <a:r>
              <a:rPr lang="en-US" altLang="ko-KR" sz="3000" dirty="0"/>
              <a:t> Navigation - Header</a:t>
            </a:r>
            <a:endParaRPr lang="ko-KR" altLang="en-US" sz="30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9E2B59C-6248-4D10-A576-A5EC0A5237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C17E9E2-732B-4F86-90EB-A26570DB4E4F}"/>
              </a:ext>
            </a:extLst>
          </p:cNvPr>
          <p:cNvCxnSpPr>
            <a:cxnSpLocks/>
          </p:cNvCxnSpPr>
          <p:nvPr/>
        </p:nvCxnSpPr>
        <p:spPr>
          <a:xfrm>
            <a:off x="108539" y="4062049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E5B354A-D982-4FE4-BB65-F5E6151CA859}"/>
              </a:ext>
            </a:extLst>
          </p:cNvPr>
          <p:cNvSpPr txBox="1"/>
          <p:nvPr/>
        </p:nvSpPr>
        <p:spPr>
          <a:xfrm>
            <a:off x="309715" y="3335461"/>
            <a:ext cx="67498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b="1" dirty="0">
                <a:solidFill>
                  <a:schemeClr val="accent5"/>
                </a:solidFill>
              </a:rPr>
              <a:t>04</a:t>
            </a:r>
            <a:r>
              <a:rPr lang="en-US" altLang="ko-KR" sz="3000" dirty="0"/>
              <a:t> Navigation – Contents Area</a:t>
            </a:r>
            <a:endParaRPr lang="ko-KR" altLang="en-US" sz="30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1E933D-50CF-4656-8845-C68658AE74B5}"/>
              </a:ext>
            </a:extLst>
          </p:cNvPr>
          <p:cNvSpPr/>
          <p:nvPr/>
        </p:nvSpPr>
        <p:spPr>
          <a:xfrm>
            <a:off x="1114072" y="1595577"/>
            <a:ext cx="2363903" cy="7534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50065E4-4F61-4ED5-AA9D-261DD3AB8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508" y="1638804"/>
            <a:ext cx="2149032" cy="6952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04852790-1FEA-4B01-9A38-505C271497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6693" y="1711252"/>
            <a:ext cx="1107990" cy="55399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08C383D-843B-4369-B9F1-7F090B296CF3}"/>
              </a:ext>
            </a:extLst>
          </p:cNvPr>
          <p:cNvSpPr/>
          <p:nvPr/>
        </p:nvSpPr>
        <p:spPr>
          <a:xfrm>
            <a:off x="5174898" y="1580655"/>
            <a:ext cx="1181952" cy="7683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F5CB41F4-8DEC-49D7-BCCE-1B385524E4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6121" y="1617123"/>
            <a:ext cx="1558600" cy="716956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1A5D4A43-E45B-4138-8AE8-ED9C69AE248F}"/>
              </a:ext>
            </a:extLst>
          </p:cNvPr>
          <p:cNvSpPr/>
          <p:nvPr/>
        </p:nvSpPr>
        <p:spPr>
          <a:xfrm>
            <a:off x="8186122" y="1598659"/>
            <a:ext cx="1558599" cy="7683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C696E452-EAD9-4CE7-98A6-1BBA3A6E72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715" y="4219071"/>
            <a:ext cx="9391650" cy="10001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006C57AC-7CA8-4830-A424-9DE8768EA9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9" y="5207986"/>
            <a:ext cx="11706472" cy="1066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71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05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구성요소 정의</a:t>
            </a:r>
            <a:endParaRPr kumimoji="0" lang="ko-KR" altLang="en-US" sz="3000" b="1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0B02D51-BA41-4DA5-AC5F-C3E910031E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5EB3FE35-37F9-42C8-B197-50CF8006D305}"/>
              </a:ext>
            </a:extLst>
          </p:cNvPr>
          <p:cNvGraphicFramePr>
            <a:graphicFrameLocks noGrp="1"/>
          </p:cNvGraphicFramePr>
          <p:nvPr/>
        </p:nvGraphicFramePr>
        <p:xfrm>
          <a:off x="451637" y="1262713"/>
          <a:ext cx="11288726" cy="52659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0855">
                  <a:extLst>
                    <a:ext uri="{9D8B030D-6E8A-4147-A177-3AD203B41FA5}">
                      <a16:colId xmlns:a16="http://schemas.microsoft.com/office/drawing/2014/main" val="3430678741"/>
                    </a:ext>
                  </a:extLst>
                </a:gridCol>
                <a:gridCol w="8777871">
                  <a:extLst>
                    <a:ext uri="{9D8B030D-6E8A-4147-A177-3AD203B41FA5}">
                      <a16:colId xmlns:a16="http://schemas.microsoft.com/office/drawing/2014/main" val="2178654916"/>
                    </a:ext>
                  </a:extLst>
                </a:gridCol>
              </a:tblGrid>
              <a:tr h="721554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dirty="0"/>
                        <a:t>버튼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설정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9064189"/>
                  </a:ext>
                </a:extLst>
              </a:tr>
              <a:tr h="5680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메인 화면으로 이동하는 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153147"/>
                  </a:ext>
                </a:extLst>
              </a:tr>
              <a:tr h="5680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KOREANA </a:t>
                      </a:r>
                      <a:r>
                        <a:rPr lang="ko-KR" altLang="en-US" dirty="0"/>
                        <a:t>항공에 대한 설명페이지로 이동하는 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4954586"/>
                  </a:ext>
                </a:extLst>
              </a:tr>
              <a:tr h="5680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예약과 관련된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정보를 나열하는 화면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900929"/>
                  </a:ext>
                </a:extLst>
              </a:tr>
              <a:tr h="5680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여행준비와 관련된 정보를 나열하는 화면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003596"/>
                  </a:ext>
                </a:extLst>
              </a:tr>
              <a:tr h="5680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로그인 화면으로 이동하는 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148240"/>
                  </a:ext>
                </a:extLst>
              </a:tr>
              <a:tr h="5680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현재 진행중인 이벤트에 관한 페이지로 이동하는 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1493717"/>
                  </a:ext>
                </a:extLst>
              </a:tr>
              <a:tr h="5680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 페이지의 언어 설정을 변경할 수 있는 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097495"/>
                  </a:ext>
                </a:extLst>
              </a:tr>
              <a:tr h="5680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키워드별로 정리한 고객들의 요구사항을 볼 수 있는 페이지로 이동하는 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1651380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CC4027D9-3AD1-4B19-AF02-A2DE38328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268" y="2597315"/>
            <a:ext cx="1134696" cy="46621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4ADA6A7-8CA0-476B-9A95-92D86CCC16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6511" y="3176235"/>
            <a:ext cx="735353" cy="45742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0CF2DFC-28A2-4133-AF1E-158279773C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3069" y="3760554"/>
            <a:ext cx="829375" cy="41159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81D9EF4-B134-4614-9796-0999983942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412" y="4327009"/>
            <a:ext cx="889955" cy="39273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361D815-2E6D-4FCC-AD0D-61F54C73AE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140" y="2074444"/>
            <a:ext cx="1570115" cy="406253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AF7D757D-4E69-4E39-8D91-366B3FD0B9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47936" y="4897138"/>
            <a:ext cx="865431" cy="42280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47D5836-CD79-4745-989C-3602B87D0CD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8780" y="5481038"/>
            <a:ext cx="1026263" cy="37843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C5D4E84-5A59-4627-B699-B8A7369664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157" y="6081240"/>
            <a:ext cx="1365426" cy="319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921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1518</TotalTime>
  <Words>335</Words>
  <Application>Microsoft Office PowerPoint</Application>
  <PresentationFormat>와이드스크린</PresentationFormat>
  <Paragraphs>93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Sitka Subheading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우균 정</dc:creator>
  <cp:lastModifiedBy>민재 김</cp:lastModifiedBy>
  <cp:revision>668</cp:revision>
  <dcterms:created xsi:type="dcterms:W3CDTF">2021-05-29T07:48:15Z</dcterms:created>
  <dcterms:modified xsi:type="dcterms:W3CDTF">2025-07-04T08:51:19Z</dcterms:modified>
</cp:coreProperties>
</file>