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4" r:id="rId2"/>
    <p:sldId id="265" r:id="rId3"/>
    <p:sldId id="476" r:id="rId4"/>
    <p:sldId id="492" r:id="rId5"/>
    <p:sldId id="493" r:id="rId6"/>
    <p:sldId id="494" r:id="rId7"/>
    <p:sldId id="482" r:id="rId8"/>
    <p:sldId id="483" r:id="rId9"/>
    <p:sldId id="491" r:id="rId10"/>
    <p:sldId id="484" r:id="rId11"/>
    <p:sldId id="485" r:id="rId12"/>
    <p:sldId id="487" r:id="rId1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CC7F52-F5A7-4829-9698-E9A2B881A553}" v="21" dt="2022-10-26T02:39:59.2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696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970C30-8012-4941-8EC7-F293906D307F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CCE28C-4AD8-4574-886D-F23870002D0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632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AFEE98-AE57-4C35-B3AB-54A854D883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C6F2A74-1662-44C0-9491-04254F28D8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1544ED-E500-4410-B279-2741CC5CBB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C202FA-6742-408A-A94F-8496F959B3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BC7155F-AA14-4227-9D00-0226B8B22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8310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153B8D-080B-4832-B0B6-71945C2CC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9176DF0-34EB-4ABB-A1BD-2E1705DD0D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7832FF-E656-459E-AEED-31E5E49C1B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816E408-BF26-48DA-83E6-D9A8D2DF8E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BCD1109-021D-4436-B59B-E918CFA660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191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CAC1D3-B2D9-4CAF-8244-B47902D78C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C8A0F8A-4429-492E-9D32-C6F58161F8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B5DFE8-1E87-4CFA-B8D2-DD0B429ED6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2091558-B7F8-4228-8308-8EC79D65F8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DEA80B3-2F21-4299-ADCF-18C529BB2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45986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794F54-7FFE-42E9-9446-7D6A1193D3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916265-E7EA-4E35-9B3B-B4F2EA136C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993E0EB-8D94-4E50-BE97-96E147E2BB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DEB43B7-8442-4889-8E4E-2485F81B0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AC1D90E-DC97-433F-8B6E-F28DEC641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35269EB-2F76-4C1C-954B-01DC36942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60823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9D4AF8-9D3F-4631-87E4-66EEB4F29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E6F389-14B4-4438-8FC0-D68EC0BCA0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E52EA64-4263-42A1-BE0D-3BE6749C3A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47F20AA-71E4-4696-86AA-98EE0CB1228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DE66F84-9F3C-40B8-8436-628DCF7E8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E8A6F0-3F4D-490C-96EA-D28CC49B07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6697743-44EB-42AB-BC71-1E92724B68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D5FAC3F-F386-4715-A47E-FE5B60E18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36290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A5ABAC-D7DE-4A30-9864-A0A37A4626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799C937-5442-4F1E-9ECF-BC4C3146E4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29E1B4F-B2C9-416C-8EF2-2C7AFC018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9DFC29-CF4B-4882-AD40-0A8C741EA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22682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02782943-06BA-4757-AF9E-BF9916B8F9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1DC2A3F-74B3-4494-8404-79E33922F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985AE4-8F60-4076-9795-1F5BA6854B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54870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621D7-F636-4F05-93B0-CC82D2372F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5323EE-8D83-4188-9217-048191A8B6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0306FBF-16AC-4892-AC73-7AD65E223D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0691C64-D6DC-4B7A-9E2C-66A18ADC0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78BBB8B-4581-4DB9-BC67-173A91284F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601B404-60C3-4818-B99B-387779770C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674929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29BAC6-946D-4398-BE2D-23054AB89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2AFB1C5-7341-48E3-B405-B9CC7312A8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C825B74-02CD-437C-BC12-872DF9CE6F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3A1108-3E94-47BD-8596-9458A779B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6E27E73-DF27-4A76-9BF9-B17AEBBEE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6C09477-1395-4BB9-BF48-34671F4AF4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6489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1545AC-D2FB-4276-90BC-5CFB7E136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6413BAD4-EA38-4C3F-BE17-A9061ABD7D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0DA258-5A79-48F2-88F3-D8B14D004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65917A6-A169-411C-8C58-CDB04B754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07F4286-9AAE-4662-9A63-2EE591E67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96407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2B522A5-A801-446E-A038-684EDCEE07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770D7A5B-3A2F-43F9-AD13-411C5E4815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9BD80F7-32C8-4637-84FA-A6D4A80B7C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D59D84-375A-4A41-9621-409C6098E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1C021F-16A9-4E46-84EF-F7EF9F763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90729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C0E3A30-4189-4A39-8A90-F42EDE6D7C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7199C8E-355F-4229-8363-2AD756BBE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7704C-6573-4A32-944D-AEC4657ABF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1A37773-8929-44B6-A93D-77D50AE16D7D}" type="datetimeFigureOut">
              <a:rPr lang="ko-KR" altLang="en-US" smtClean="0"/>
              <a:t>2025-07-04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56AD91F-1311-4815-9A0E-3EAD573450F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3E54BEE-167F-4808-B590-1CE22C5A8E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D1335C-A66F-4B72-B03F-C209E17CF1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85587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">
              <a:schemeClr val="accent1">
                <a:lumMod val="5000"/>
                <a:lumOff val="95000"/>
              </a:schemeClr>
            </a:gs>
            <a:gs pos="37000">
              <a:schemeClr val="accent1">
                <a:lumMod val="45000"/>
                <a:lumOff val="55000"/>
              </a:schemeClr>
            </a:gs>
            <a:gs pos="69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/>
          <p:nvPr/>
        </p:nvCxnSpPr>
        <p:spPr>
          <a:xfrm>
            <a:off x="796415" y="3429000"/>
            <a:ext cx="10382864" cy="0"/>
          </a:xfrm>
          <a:prstGeom prst="line">
            <a:avLst/>
          </a:prstGeom>
          <a:ln w="57150">
            <a:solidFill>
              <a:srgbClr val="4472C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997D056A-6397-1A84-4573-A3AED7B5F616}"/>
              </a:ext>
            </a:extLst>
          </p:cNvPr>
          <p:cNvSpPr txBox="1"/>
          <p:nvPr/>
        </p:nvSpPr>
        <p:spPr>
          <a:xfrm>
            <a:off x="722671" y="2521974"/>
            <a:ext cx="828162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dirty="0"/>
              <a:t>KOREANA AIR </a:t>
            </a:r>
            <a:r>
              <a:rPr lang="ko-KR" altLang="en-US" sz="4000" dirty="0"/>
              <a:t>항공사 홈페이지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EB7A9B7-7703-4B8A-92C4-EBCD06120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989" y="2272761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19587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">
              <a:schemeClr val="accent1">
                <a:lumMod val="5000"/>
                <a:lumOff val="95000"/>
              </a:schemeClr>
            </a:gs>
            <a:gs pos="37000">
              <a:schemeClr val="accent1">
                <a:lumMod val="45000"/>
                <a:lumOff val="55000"/>
              </a:schemeClr>
            </a:gs>
            <a:gs pos="69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4380080" y="1459230"/>
            <a:ext cx="0" cy="3385542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1196874" y="2721114"/>
            <a:ext cx="237040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000" dirty="0"/>
              <a:t>INDEX</a:t>
            </a:r>
            <a:endParaRPr lang="ko-KR" altLang="en-US" sz="5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C659D7-B149-FA89-7B62-03E4909C1A65}"/>
              </a:ext>
            </a:extLst>
          </p:cNvPr>
          <p:cNvSpPr txBox="1"/>
          <p:nvPr/>
        </p:nvSpPr>
        <p:spPr>
          <a:xfrm>
            <a:off x="4771514" y="1459230"/>
            <a:ext cx="44441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1. </a:t>
            </a:r>
            <a:r>
              <a:rPr lang="ko-KR" altLang="en-US" sz="3000" dirty="0"/>
              <a:t>구동환경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370E9A-67F4-CA06-A570-74E5D00FB26F}"/>
              </a:ext>
            </a:extLst>
          </p:cNvPr>
          <p:cNvSpPr txBox="1"/>
          <p:nvPr/>
        </p:nvSpPr>
        <p:spPr>
          <a:xfrm>
            <a:off x="4771514" y="2167116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2. </a:t>
            </a:r>
            <a:r>
              <a:rPr lang="ko-KR" altLang="en-US" sz="3000" dirty="0"/>
              <a:t>디자인 요소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A72002-267B-4233-97FB-A6C5B60DAB8C}"/>
              </a:ext>
            </a:extLst>
          </p:cNvPr>
          <p:cNvSpPr txBox="1"/>
          <p:nvPr/>
        </p:nvSpPr>
        <p:spPr>
          <a:xfrm>
            <a:off x="4771514" y="2875002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3. </a:t>
            </a:r>
            <a:r>
              <a:rPr lang="ko-KR" altLang="en-US" sz="3000" dirty="0"/>
              <a:t>레이아웃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6D99DD-255B-4E50-B29D-3B659A225A5C}"/>
              </a:ext>
            </a:extLst>
          </p:cNvPr>
          <p:cNvSpPr txBox="1"/>
          <p:nvPr/>
        </p:nvSpPr>
        <p:spPr>
          <a:xfrm>
            <a:off x="4771514" y="3582888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4. Navigation</a:t>
            </a:r>
            <a:endParaRPr lang="ko-KR" altLang="en-US" sz="30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AAA32B3-C5B0-4612-A2AC-4DD7CCF6D781}"/>
              </a:ext>
            </a:extLst>
          </p:cNvPr>
          <p:cNvSpPr txBox="1"/>
          <p:nvPr/>
        </p:nvSpPr>
        <p:spPr>
          <a:xfrm>
            <a:off x="4771514" y="4290774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5. </a:t>
            </a:r>
            <a:r>
              <a:rPr lang="ko-KR" altLang="en-US" sz="3000" dirty="0"/>
              <a:t>구성요소 정의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5C5F7D64-7EB8-4D6B-AB3B-730FEA8883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96323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b="1" dirty="0">
                <a:solidFill>
                  <a:schemeClr val="accent5"/>
                </a:solidFill>
              </a:rPr>
              <a:t>01 </a:t>
            </a:r>
            <a:r>
              <a:rPr lang="ko-KR" altLang="en-US" sz="3000" b="1" dirty="0"/>
              <a:t>구동환경</a:t>
            </a:r>
            <a:endParaRPr lang="ko-KR" altLang="en-US" sz="3000" b="1" dirty="0">
              <a:solidFill>
                <a:schemeClr val="accent5"/>
              </a:solidFill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DA2DA4CA-4D00-48FF-B43C-62FF031EAD87}"/>
              </a:ext>
            </a:extLst>
          </p:cNvPr>
          <p:cNvSpPr/>
          <p:nvPr/>
        </p:nvSpPr>
        <p:spPr>
          <a:xfrm>
            <a:off x="1427747" y="1543395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2630905" y="1683486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000" dirty="0"/>
              <a:t>OS: Windows</a:t>
            </a:r>
            <a:endParaRPr lang="ko-KR" altLang="en-US" sz="3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65D32E-B2DC-4EAA-9AF7-F7B2C6825DF6}"/>
              </a:ext>
            </a:extLst>
          </p:cNvPr>
          <p:cNvSpPr txBox="1"/>
          <p:nvPr/>
        </p:nvSpPr>
        <p:spPr>
          <a:xfrm>
            <a:off x="2630905" y="2875002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3000" dirty="0"/>
              <a:t>Browser:</a:t>
            </a:r>
            <a:r>
              <a:rPr lang="ko-KR" altLang="en-US" sz="3000" dirty="0"/>
              <a:t> </a:t>
            </a:r>
            <a:r>
              <a:rPr lang="en-US" altLang="ko-KR" sz="3000" dirty="0"/>
              <a:t>Chrome</a:t>
            </a:r>
            <a:endParaRPr lang="ko-KR" altLang="en-US" sz="3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2630905" y="4066518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000" dirty="0"/>
              <a:t>해상도</a:t>
            </a:r>
            <a:r>
              <a:rPr lang="en-US" altLang="ko-KR" sz="3000" dirty="0"/>
              <a:t>:1920px X 1080px</a:t>
            </a:r>
            <a:endParaRPr lang="ko-KR" altLang="en-US" sz="3000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BA07C889-33CE-4A57-901D-73621F2E5A54}"/>
              </a:ext>
            </a:extLst>
          </p:cNvPr>
          <p:cNvSpPr/>
          <p:nvPr/>
        </p:nvSpPr>
        <p:spPr>
          <a:xfrm>
            <a:off x="1427747" y="2731062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B7EA33-E9BE-4F16-8A42-D5A1F4942257}"/>
              </a:ext>
            </a:extLst>
          </p:cNvPr>
          <p:cNvSpPr/>
          <p:nvPr/>
        </p:nvSpPr>
        <p:spPr>
          <a:xfrm>
            <a:off x="1427747" y="3918525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타원 14">
            <a:extLst>
              <a:ext uri="{FF2B5EF4-FFF2-40B4-BE49-F238E27FC236}">
                <a16:creationId xmlns:a16="http://schemas.microsoft.com/office/drawing/2014/main" id="{18D6FB45-E8C6-4283-9DED-525314CDB2A1}"/>
              </a:ext>
            </a:extLst>
          </p:cNvPr>
          <p:cNvSpPr/>
          <p:nvPr/>
        </p:nvSpPr>
        <p:spPr>
          <a:xfrm>
            <a:off x="1427747" y="4997278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45CCA0E-D872-4103-AEC0-E2B66362CBAE}"/>
              </a:ext>
            </a:extLst>
          </p:cNvPr>
          <p:cNvSpPr txBox="1"/>
          <p:nvPr/>
        </p:nvSpPr>
        <p:spPr>
          <a:xfrm>
            <a:off x="2630905" y="5137369"/>
            <a:ext cx="81333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3000" dirty="0"/>
              <a:t>레이아웃  </a:t>
            </a:r>
            <a:r>
              <a:rPr lang="en-US" altLang="ko-KR" sz="3000" dirty="0"/>
              <a:t>-</a:t>
            </a:r>
            <a:r>
              <a:rPr lang="ko-KR" altLang="en-US" sz="3000" dirty="0"/>
              <a:t>화면구조</a:t>
            </a:r>
            <a:r>
              <a:rPr lang="en-US" altLang="ko-KR" sz="3000" dirty="0"/>
              <a:t>- -</a:t>
            </a:r>
            <a:r>
              <a:rPr lang="ko-KR" altLang="en-US" sz="3000" dirty="0"/>
              <a:t>상단메뉴</a:t>
            </a:r>
            <a:r>
              <a:rPr lang="en-US" altLang="ko-KR" sz="3000" dirty="0"/>
              <a:t>- -Navigation</a:t>
            </a:r>
          </a:p>
          <a:p>
            <a:pPr algn="ctr"/>
            <a:r>
              <a:rPr lang="en-US" altLang="ko-KR" sz="3000" dirty="0"/>
              <a:t>-Contents Area- -Footer Area             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D3BC17FF-49B7-4054-A64D-DB298C911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015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02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디자인 요소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타원 1">
            <a:extLst>
              <a:ext uri="{FF2B5EF4-FFF2-40B4-BE49-F238E27FC236}">
                <a16:creationId xmlns:a16="http://schemas.microsoft.com/office/drawing/2014/main" id="{DA2DA4CA-4D00-48FF-B43C-62FF031EAD87}"/>
              </a:ext>
            </a:extLst>
          </p:cNvPr>
          <p:cNvSpPr/>
          <p:nvPr/>
        </p:nvSpPr>
        <p:spPr>
          <a:xfrm>
            <a:off x="1427747" y="2085474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2630905" y="2225565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로고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65D32E-B2DC-4EAA-9AF7-F7B2C6825DF6}"/>
              </a:ext>
            </a:extLst>
          </p:cNvPr>
          <p:cNvSpPr txBox="1"/>
          <p:nvPr/>
        </p:nvSpPr>
        <p:spPr>
          <a:xfrm>
            <a:off x="2630905" y="3472922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폰트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2630905" y="4720279"/>
            <a:ext cx="638475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색상</a:t>
            </a: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BA07C889-33CE-4A57-901D-73621F2E5A54}"/>
              </a:ext>
            </a:extLst>
          </p:cNvPr>
          <p:cNvSpPr/>
          <p:nvPr/>
        </p:nvSpPr>
        <p:spPr>
          <a:xfrm>
            <a:off x="1427747" y="3334797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08B7EA33-E9BE-4F16-8A42-D5A1F4942257}"/>
              </a:ext>
            </a:extLst>
          </p:cNvPr>
          <p:cNvSpPr/>
          <p:nvPr/>
        </p:nvSpPr>
        <p:spPr>
          <a:xfrm>
            <a:off x="1427747" y="4584120"/>
            <a:ext cx="834190" cy="834181"/>
          </a:xfrm>
          <a:prstGeom prst="ellipse">
            <a:avLst/>
          </a:prstGeom>
          <a:solidFill>
            <a:schemeClr val="accent5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B40C9FA7-9EEF-4B1B-8D6E-EE6CD3F5300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3966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02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디자인 요소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lang="ko-KR" altLang="en-US" sz="3000" b="1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로고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-1235242" y="2228671"/>
            <a:ext cx="12192000" cy="2015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●  전통 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+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미래 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+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연결성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     태극은 한국 정체성과 조화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비행기는 글로벌 비전과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             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이동성을 상징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    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두 요소의 교차는 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KOREANA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항공의 철학 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–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전통과 현대</a:t>
            </a:r>
            <a:endParaRPr lang="en-US" altLang="ko-KR" sz="2500" dirty="0">
              <a:solidFill>
                <a:prstClr val="black"/>
              </a:solidFill>
              <a:latin typeface="맑은 고딕" panose="020F0502020204030204"/>
              <a:ea typeface="맑은 고딕" panose="020B0503020000020004" pitchFamily="50" charset="-127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                  </a:t>
            </a: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지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역과 세계를 잇는 연결을 담고 있음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  <a:r>
              <a:rPr kumimoji="0" lang="en-US" altLang="ko-KR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-1235242" y="5175748"/>
            <a:ext cx="1219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        ●  로고는 </a:t>
            </a:r>
            <a:r>
              <a:rPr lang="en-US" altLang="ko-KR" sz="2500" dirty="0" err="1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BrandCrowd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사이트를 참고하였음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BF967E6-66AD-4B60-95B1-918ED320DF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1736" y="1883177"/>
            <a:ext cx="4329606" cy="4329606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D0B02D51-BA41-4DA5-AC5F-C3E910031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648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11734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srgbClr val="5B9BD5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02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디자인 요소 </a:t>
            </a:r>
            <a:r>
              <a:rPr kumimoji="0" lang="en-US" altLang="ko-KR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- </a:t>
            </a:r>
            <a:r>
              <a:rPr kumimoji="0" lang="ko-KR" altLang="en-US" sz="30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폰트</a:t>
            </a:r>
            <a:endParaRPr kumimoji="0" lang="ko-KR" altLang="en-US" sz="3000" b="1" i="0" u="none" strike="noStrike" kern="1200" cap="none" spc="0" normalizeH="0" baseline="0" noProof="0" dirty="0">
              <a:ln>
                <a:noFill/>
              </a:ln>
              <a:solidFill>
                <a:srgbClr val="5B9BD5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72B302C-012C-43BF-AE4E-9B00D0FFC851}"/>
              </a:ext>
            </a:extLst>
          </p:cNvPr>
          <p:cNvSpPr txBox="1"/>
          <p:nvPr/>
        </p:nvSpPr>
        <p:spPr>
          <a:xfrm>
            <a:off x="0" y="2228671"/>
            <a:ext cx="864669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rPr>
              <a:t>●  폰트는 가독성을 높이기 위해 두개의 폰트만</a:t>
            </a:r>
            <a:endParaRPr kumimoji="0" lang="en-US" altLang="ko-KR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사용하였다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                     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9BCB9C-57D2-4014-BC86-17D1EAD70BC6}"/>
              </a:ext>
            </a:extLst>
          </p:cNvPr>
          <p:cNvSpPr txBox="1"/>
          <p:nvPr/>
        </p:nvSpPr>
        <p:spPr>
          <a:xfrm>
            <a:off x="-1235242" y="5175748"/>
            <a:ext cx="12192000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            ●  로고는 </a:t>
            </a:r>
            <a:r>
              <a:rPr lang="en-US" altLang="ko-KR" sz="2500" dirty="0" err="1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BrandCrowd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 </a:t>
            </a:r>
            <a:r>
              <a:rPr lang="ko-KR" altLang="en-US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사이트를 참고하였음</a:t>
            </a:r>
            <a:r>
              <a:rPr lang="en-US" altLang="ko-KR" sz="2500" dirty="0">
                <a:solidFill>
                  <a:prstClr val="black"/>
                </a:solidFill>
                <a:latin typeface="맑은 고딕" panose="020F0502020204030204"/>
                <a:ea typeface="맑은 고딕" panose="020B0503020000020004" pitchFamily="50" charset="-127"/>
              </a:rPr>
              <a:t>.</a:t>
            </a:r>
            <a:endParaRPr kumimoji="0" lang="ko-KR" altLang="en-US" sz="2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0B02D51-BA41-4DA5-AC5F-C3E910031E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97198" y="126657"/>
            <a:ext cx="1206311" cy="1206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71092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01 GIT</a:t>
            </a:r>
            <a:endParaRPr lang="ko-KR" altLang="en-US" sz="3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3EE37-ECB3-9DCC-2827-41FB34D3549C}"/>
              </a:ext>
            </a:extLst>
          </p:cNvPr>
          <p:cNvSpPr txBox="1"/>
          <p:nvPr/>
        </p:nvSpPr>
        <p:spPr>
          <a:xfrm>
            <a:off x="399621" y="1352394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Dev Branch </a:t>
            </a:r>
            <a:r>
              <a:rPr lang="ko-KR" altLang="en-US" dirty="0"/>
              <a:t>생성</a:t>
            </a:r>
          </a:p>
        </p:txBody>
      </p:sp>
      <p:pic>
        <p:nvPicPr>
          <p:cNvPr id="3" name="그림 2" descr="텍스트이(가) 표시된 사진&#10;&#10;자동 생성된 설명">
            <a:extLst>
              <a:ext uri="{FF2B5EF4-FFF2-40B4-BE49-F238E27FC236}">
                <a16:creationId xmlns:a16="http://schemas.microsoft.com/office/drawing/2014/main" id="{DAA0C570-5C20-1EFF-826C-DB0F8AA917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05" y="2540773"/>
            <a:ext cx="2138378" cy="800106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EDE4D2E1-94E8-B279-A281-8EC6B98CD7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05" y="3517122"/>
            <a:ext cx="1700225" cy="595317"/>
          </a:xfrm>
          <a:prstGeom prst="rect">
            <a:avLst/>
          </a:prstGeom>
        </p:spPr>
      </p:pic>
      <p:pic>
        <p:nvPicPr>
          <p:cNvPr id="9" name="그림 8" descr="텍스트, 모니터, 스크린샷, 화면이(가) 표시된 사진&#10;&#10;자동 생성된 설명">
            <a:extLst>
              <a:ext uri="{FF2B5EF4-FFF2-40B4-BE49-F238E27FC236}">
                <a16:creationId xmlns:a16="http://schemas.microsoft.com/office/drawing/2014/main" id="{ED15B5C2-9803-B7A4-A83D-3A215B1E213D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0000"/>
          <a:stretch/>
        </p:blipFill>
        <p:spPr>
          <a:xfrm>
            <a:off x="540536" y="4916183"/>
            <a:ext cx="2600344" cy="112157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BDB8356-3523-E12E-1AA7-086E3D32D5DC}"/>
              </a:ext>
            </a:extLst>
          </p:cNvPr>
          <p:cNvSpPr txBox="1"/>
          <p:nvPr/>
        </p:nvSpPr>
        <p:spPr>
          <a:xfrm>
            <a:off x="483392" y="4495077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Dev </a:t>
            </a:r>
            <a:r>
              <a:rPr lang="ko-KR" altLang="en-US" dirty="0"/>
              <a:t>에서 작업하기</a:t>
            </a:r>
          </a:p>
        </p:txBody>
      </p:sp>
      <p:pic>
        <p:nvPicPr>
          <p:cNvPr id="13" name="그림 12" descr="텍스트이(가) 표시된 사진&#10;&#10;자동 생성된 설명">
            <a:extLst>
              <a:ext uri="{FF2B5EF4-FFF2-40B4-BE49-F238E27FC236}">
                <a16:creationId xmlns:a16="http://schemas.microsoft.com/office/drawing/2014/main" id="{5B98869D-C1F7-D4FC-1D0F-9746EDB283D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567" y="1802853"/>
            <a:ext cx="3124223" cy="108109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5E740020-99CD-C51F-25A3-CF1C61EEDBF2}"/>
              </a:ext>
            </a:extLst>
          </p:cNvPr>
          <p:cNvSpPr txBox="1"/>
          <p:nvPr/>
        </p:nvSpPr>
        <p:spPr>
          <a:xfrm>
            <a:off x="4078217" y="1359864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Staging Area </a:t>
            </a:r>
            <a:r>
              <a:rPr lang="ko-KR" altLang="en-US" dirty="0"/>
              <a:t>확인</a:t>
            </a:r>
          </a:p>
        </p:txBody>
      </p:sp>
      <p:pic>
        <p:nvPicPr>
          <p:cNvPr id="15" name="그림 14" descr="텍스트이(가) 표시된 사진&#10;&#10;자동 생성된 설명">
            <a:extLst>
              <a:ext uri="{FF2B5EF4-FFF2-40B4-BE49-F238E27FC236}">
                <a16:creationId xmlns:a16="http://schemas.microsoft.com/office/drawing/2014/main" id="{53956C91-BC1D-DD61-00EF-C88A633D79F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7450" y="1812377"/>
            <a:ext cx="2543194" cy="1062045"/>
          </a:xfrm>
          <a:prstGeom prst="rect">
            <a:avLst/>
          </a:prstGeom>
        </p:spPr>
      </p:pic>
      <p:pic>
        <p:nvPicPr>
          <p:cNvPr id="19" name="그림 18" descr="텍스트이(가) 표시된 사진&#10;&#10;자동 생성된 설명">
            <a:extLst>
              <a:ext uri="{FF2B5EF4-FFF2-40B4-BE49-F238E27FC236}">
                <a16:creationId xmlns:a16="http://schemas.microsoft.com/office/drawing/2014/main" id="{08251708-D32A-F7E6-3194-2AC5CB56C58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1567" y="4916183"/>
            <a:ext cx="2438418" cy="92869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08CD765-AD78-791A-DDDA-A838099EFF59}"/>
              </a:ext>
            </a:extLst>
          </p:cNvPr>
          <p:cNvSpPr txBox="1"/>
          <p:nvPr/>
        </p:nvSpPr>
        <p:spPr>
          <a:xfrm>
            <a:off x="4078216" y="4485551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Dev</a:t>
            </a:r>
            <a:r>
              <a:rPr lang="ko-KR" altLang="en-US" dirty="0"/>
              <a:t>에서 </a:t>
            </a:r>
            <a:r>
              <a:rPr lang="en-US" altLang="ko-KR" dirty="0"/>
              <a:t>commit</a:t>
            </a:r>
            <a:endParaRPr lang="ko-KR" altLang="en-US" dirty="0"/>
          </a:p>
        </p:txBody>
      </p:sp>
      <p:pic>
        <p:nvPicPr>
          <p:cNvPr id="4" name="그림 3" descr="텍스트이(가) 표시된 사진&#10;&#10;자동 생성된 설명">
            <a:extLst>
              <a:ext uri="{FF2B5EF4-FFF2-40B4-BE49-F238E27FC236}">
                <a16:creationId xmlns:a16="http://schemas.microsoft.com/office/drawing/2014/main" id="{F7A105B4-F3B8-5D27-25AA-A76B9C69A76B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83" t="-2980"/>
          <a:stretch/>
        </p:blipFill>
        <p:spPr>
          <a:xfrm>
            <a:off x="633405" y="1897969"/>
            <a:ext cx="1475365" cy="5492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26700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01 GIT</a:t>
            </a:r>
            <a:endParaRPr lang="ko-KR" altLang="en-US" sz="3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3EE37-ECB3-9DCC-2827-41FB34D3549C}"/>
              </a:ext>
            </a:extLst>
          </p:cNvPr>
          <p:cNvSpPr txBox="1"/>
          <p:nvPr/>
        </p:nvSpPr>
        <p:spPr>
          <a:xfrm>
            <a:off x="399621" y="1439383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master</a:t>
            </a:r>
            <a:r>
              <a:rPr lang="ko-KR" altLang="en-US" dirty="0"/>
              <a:t> </a:t>
            </a:r>
            <a:r>
              <a:rPr lang="en-US" altLang="ko-KR" dirty="0"/>
              <a:t>branch</a:t>
            </a:r>
            <a:r>
              <a:rPr lang="ko-KR" altLang="en-US" dirty="0"/>
              <a:t>로 이동</a:t>
            </a:r>
          </a:p>
        </p:txBody>
      </p:sp>
      <p:pic>
        <p:nvPicPr>
          <p:cNvPr id="14" name="그림 13" descr="텍스트이(가) 표시된 사진&#10;&#10;자동 생성된 설명">
            <a:extLst>
              <a:ext uri="{FF2B5EF4-FFF2-40B4-BE49-F238E27FC236}">
                <a16:creationId xmlns:a16="http://schemas.microsoft.com/office/drawing/2014/main" id="{B72274F9-BCC5-66A4-A355-95059F8F87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04" y="1981200"/>
            <a:ext cx="1985977" cy="1185871"/>
          </a:xfrm>
          <a:prstGeom prst="rect">
            <a:avLst/>
          </a:prstGeom>
        </p:spPr>
      </p:pic>
      <p:pic>
        <p:nvPicPr>
          <p:cNvPr id="16" name="그림 15" descr="텍스트, 모니터, 스크린샷, 화면이(가) 표시된 사진&#10;&#10;자동 생성된 설명">
            <a:extLst>
              <a:ext uri="{FF2B5EF4-FFF2-40B4-BE49-F238E27FC236}">
                <a16:creationId xmlns:a16="http://schemas.microsoft.com/office/drawing/2014/main" id="{86F9E15D-B409-CD0E-C906-C12903603A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3404" y="4337853"/>
            <a:ext cx="2743220" cy="2190766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2647954F-4230-6D0B-0AE5-E572198159F8}"/>
              </a:ext>
            </a:extLst>
          </p:cNvPr>
          <p:cNvSpPr txBox="1"/>
          <p:nvPr/>
        </p:nvSpPr>
        <p:spPr>
          <a:xfrm>
            <a:off x="521492" y="3968521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master </a:t>
            </a:r>
            <a:r>
              <a:rPr lang="ko-KR" altLang="en-US" dirty="0"/>
              <a:t>에서 작업하기</a:t>
            </a:r>
          </a:p>
        </p:txBody>
      </p:sp>
      <p:pic>
        <p:nvPicPr>
          <p:cNvPr id="19" name="그림 18" descr="텍스트이(가) 표시된 사진&#10;&#10;자동 생성된 설명">
            <a:extLst>
              <a:ext uri="{FF2B5EF4-FFF2-40B4-BE49-F238E27FC236}">
                <a16:creationId xmlns:a16="http://schemas.microsoft.com/office/drawing/2014/main" id="{70A6F54A-D2A6-5CFA-015D-E3550D6DC4C1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778"/>
          <a:stretch/>
        </p:blipFill>
        <p:spPr>
          <a:xfrm>
            <a:off x="4335323" y="1925890"/>
            <a:ext cx="2332177" cy="117158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EFF204E-3E23-8380-39F7-A6911BD206FF}"/>
              </a:ext>
            </a:extLst>
          </p:cNvPr>
          <p:cNvSpPr txBox="1"/>
          <p:nvPr/>
        </p:nvSpPr>
        <p:spPr>
          <a:xfrm>
            <a:off x="4163942" y="1394693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Staging Area </a:t>
            </a:r>
            <a:r>
              <a:rPr lang="ko-KR" altLang="en-US" dirty="0"/>
              <a:t>확인</a:t>
            </a:r>
          </a:p>
        </p:txBody>
      </p:sp>
      <p:pic>
        <p:nvPicPr>
          <p:cNvPr id="22" name="그림 21" descr="텍스트이(가) 표시된 사진&#10;&#10;자동 생성된 설명">
            <a:extLst>
              <a:ext uri="{FF2B5EF4-FFF2-40B4-BE49-F238E27FC236}">
                <a16:creationId xmlns:a16="http://schemas.microsoft.com/office/drawing/2014/main" id="{60AE102B-4CEF-A828-9D7F-D0CC51FDD06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9466" y="1906840"/>
            <a:ext cx="2676545" cy="1195396"/>
          </a:xfrm>
          <a:prstGeom prst="rect">
            <a:avLst/>
          </a:prstGeom>
        </p:spPr>
      </p:pic>
      <p:pic>
        <p:nvPicPr>
          <p:cNvPr id="24" name="그림 23" descr="텍스트이(가) 표시된 사진&#10;&#10;자동 생성된 설명">
            <a:extLst>
              <a:ext uri="{FF2B5EF4-FFF2-40B4-BE49-F238E27FC236}">
                <a16:creationId xmlns:a16="http://schemas.microsoft.com/office/drawing/2014/main" id="{F6283D87-1480-3BEC-749C-7C11BA7A1E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5323" y="4367969"/>
            <a:ext cx="2595581" cy="1114433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3699D7BD-FB1A-B733-C411-EAE84F88D11C}"/>
              </a:ext>
            </a:extLst>
          </p:cNvPr>
          <p:cNvSpPr txBox="1"/>
          <p:nvPr/>
        </p:nvSpPr>
        <p:spPr>
          <a:xfrm>
            <a:off x="4078217" y="3983579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master</a:t>
            </a:r>
            <a:r>
              <a:rPr lang="ko-KR" altLang="en-US" dirty="0"/>
              <a:t>에서 </a:t>
            </a:r>
            <a:r>
              <a:rPr lang="en-US" altLang="ko-KR" dirty="0"/>
              <a:t>commit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817156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3840334" y="2497552"/>
            <a:ext cx="0" cy="1261884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1469927" y="2774551"/>
            <a:ext cx="245314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5000" dirty="0"/>
              <a:t>INDEX</a:t>
            </a:r>
            <a:endParaRPr lang="ko-KR" altLang="en-US" sz="5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C659D7-B149-FA89-7B62-03E4909C1A65}"/>
              </a:ext>
            </a:extLst>
          </p:cNvPr>
          <p:cNvSpPr txBox="1"/>
          <p:nvPr/>
        </p:nvSpPr>
        <p:spPr>
          <a:xfrm>
            <a:off x="4231768" y="2497552"/>
            <a:ext cx="444417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1 branch</a:t>
            </a:r>
            <a:r>
              <a:rPr lang="ko-KR" altLang="en-US" sz="3000" dirty="0"/>
              <a:t>생성 </a:t>
            </a:r>
            <a:r>
              <a:rPr lang="en-US" altLang="ko-KR" sz="3000" dirty="0"/>
              <a:t>&amp; </a:t>
            </a:r>
            <a:r>
              <a:rPr lang="ko-KR" altLang="en-US" sz="3000" dirty="0"/>
              <a:t>작업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370E9A-67F4-CA06-A570-74E5D00FB26F}"/>
              </a:ext>
            </a:extLst>
          </p:cNvPr>
          <p:cNvSpPr txBox="1"/>
          <p:nvPr/>
        </p:nvSpPr>
        <p:spPr>
          <a:xfrm>
            <a:off x="4231768" y="3205438"/>
            <a:ext cx="57223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>
                <a:solidFill>
                  <a:srgbClr val="FF0000"/>
                </a:solidFill>
              </a:rPr>
              <a:t>2 merge &amp; </a:t>
            </a:r>
            <a:r>
              <a:rPr lang="en-US" altLang="ko-KR" sz="3000" dirty="0" err="1">
                <a:solidFill>
                  <a:srgbClr val="FF0000"/>
                </a:solidFill>
              </a:rPr>
              <a:t>Confilct</a:t>
            </a:r>
            <a:r>
              <a:rPr lang="ko-KR" altLang="en-US" sz="3000" dirty="0">
                <a:solidFill>
                  <a:srgbClr val="FF0000"/>
                </a:solidFill>
              </a:rPr>
              <a:t>해결</a:t>
            </a:r>
          </a:p>
        </p:txBody>
      </p:sp>
    </p:spTree>
    <p:extLst>
      <p:ext uri="{BB962C8B-B14F-4D97-AF65-F5344CB8AC3E}">
        <p14:creationId xmlns:p14="http://schemas.microsoft.com/office/powerpoint/2010/main" val="2354111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01 GIT</a:t>
            </a:r>
            <a:endParaRPr lang="ko-KR" altLang="en-US" sz="3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3EE37-ECB3-9DCC-2827-41FB34D3549C}"/>
              </a:ext>
            </a:extLst>
          </p:cNvPr>
          <p:cNvSpPr txBox="1"/>
          <p:nvPr/>
        </p:nvSpPr>
        <p:spPr>
          <a:xfrm>
            <a:off x="599646" y="1575225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master</a:t>
            </a:r>
            <a:r>
              <a:rPr lang="ko-KR" altLang="en-US" dirty="0"/>
              <a:t>에서 </a:t>
            </a:r>
            <a:r>
              <a:rPr lang="en-US" altLang="ko-KR" dirty="0"/>
              <a:t>dev merge</a:t>
            </a:r>
            <a:endParaRPr lang="ko-KR" altLang="en-US" dirty="0"/>
          </a:p>
        </p:txBody>
      </p:sp>
      <p:pic>
        <p:nvPicPr>
          <p:cNvPr id="2" name="그림 1" descr="텍스트이(가) 표시된 사진&#10;&#10;자동 생성된 설명">
            <a:extLst>
              <a:ext uri="{FF2B5EF4-FFF2-40B4-BE49-F238E27FC236}">
                <a16:creationId xmlns:a16="http://schemas.microsoft.com/office/drawing/2014/main" id="{4D0D6970-B41F-DD69-BB30-0125BC386B4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873" y="2053589"/>
            <a:ext cx="2871808" cy="928694"/>
          </a:xfrm>
          <a:prstGeom prst="rect">
            <a:avLst/>
          </a:prstGeom>
        </p:spPr>
      </p:pic>
      <p:pic>
        <p:nvPicPr>
          <p:cNvPr id="8" name="그림 7" descr="텍스트이(가) 표시된 사진&#10;&#10;자동 생성된 설명">
            <a:extLst>
              <a:ext uri="{FF2B5EF4-FFF2-40B4-BE49-F238E27FC236}">
                <a16:creationId xmlns:a16="http://schemas.microsoft.com/office/drawing/2014/main" id="{88E39054-43C5-FA25-CBA5-6C9992FEB0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4873" y="3686617"/>
            <a:ext cx="5695992" cy="25479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703F316-CCAB-50EB-CA4B-66F7511935FE}"/>
              </a:ext>
            </a:extLst>
          </p:cNvPr>
          <p:cNvSpPr txBox="1"/>
          <p:nvPr/>
        </p:nvSpPr>
        <p:spPr>
          <a:xfrm>
            <a:off x="599646" y="3221278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Conflict </a:t>
            </a:r>
            <a:r>
              <a:rPr lang="ko-KR" altLang="en-US" dirty="0"/>
              <a:t>발생</a:t>
            </a:r>
          </a:p>
        </p:txBody>
      </p:sp>
    </p:spTree>
    <p:extLst>
      <p:ext uri="{BB962C8B-B14F-4D97-AF65-F5344CB8AC3E}">
        <p14:creationId xmlns:p14="http://schemas.microsoft.com/office/powerpoint/2010/main" val="26481567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01 GIT</a:t>
            </a:r>
            <a:endParaRPr lang="ko-KR" altLang="en-US" sz="3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3EE37-ECB3-9DCC-2827-41FB34D3549C}"/>
              </a:ext>
            </a:extLst>
          </p:cNvPr>
          <p:cNvSpPr txBox="1"/>
          <p:nvPr/>
        </p:nvSpPr>
        <p:spPr>
          <a:xfrm>
            <a:off x="399621" y="1352394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Conflict </a:t>
            </a:r>
            <a:r>
              <a:rPr lang="ko-KR" altLang="en-US" dirty="0"/>
              <a:t>사항 확인</a:t>
            </a:r>
            <a:r>
              <a:rPr lang="en-US" altLang="ko-KR" dirty="0"/>
              <a:t>&amp;</a:t>
            </a:r>
            <a:r>
              <a:rPr lang="ko-KR" altLang="en-US" dirty="0"/>
              <a:t>조정</a:t>
            </a:r>
          </a:p>
        </p:txBody>
      </p:sp>
      <p:pic>
        <p:nvPicPr>
          <p:cNvPr id="3" name="그림 2" descr="텍스트, 모니터, 전자제품, 화면이(가) 표시된 사진&#10;&#10;자동 생성된 설명">
            <a:extLst>
              <a:ext uri="{FF2B5EF4-FFF2-40B4-BE49-F238E27FC236}">
                <a16:creationId xmlns:a16="http://schemas.microsoft.com/office/drawing/2014/main" id="{D9DD4FEF-B2B4-BD44-2B6E-66874FDAE6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97" y="1837134"/>
            <a:ext cx="1690700" cy="966795"/>
          </a:xfrm>
          <a:prstGeom prst="rect">
            <a:avLst/>
          </a:prstGeom>
        </p:spPr>
      </p:pic>
      <p:pic>
        <p:nvPicPr>
          <p:cNvPr id="6" name="그림 5" descr="텍스트이(가) 표시된 사진&#10;&#10;자동 생성된 설명">
            <a:extLst>
              <a:ext uri="{FF2B5EF4-FFF2-40B4-BE49-F238E27FC236}">
                <a16:creationId xmlns:a16="http://schemas.microsoft.com/office/drawing/2014/main" id="{D977D7D5-F7B7-2E8F-D6B7-DFC38C6197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997" y="3599014"/>
            <a:ext cx="3162323" cy="24765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D34A296-0C89-9128-95C4-CA10ADE117AD}"/>
              </a:ext>
            </a:extLst>
          </p:cNvPr>
          <p:cNvSpPr txBox="1"/>
          <p:nvPr/>
        </p:nvSpPr>
        <p:spPr>
          <a:xfrm>
            <a:off x="399621" y="3059668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Staging</a:t>
            </a:r>
            <a:r>
              <a:rPr lang="ko-KR" altLang="en-US" dirty="0"/>
              <a:t> </a:t>
            </a:r>
            <a:r>
              <a:rPr lang="en-US" altLang="ko-KR" dirty="0"/>
              <a:t>Area</a:t>
            </a:r>
            <a:r>
              <a:rPr lang="ko-KR" altLang="en-US" dirty="0"/>
              <a:t> 확인</a:t>
            </a:r>
          </a:p>
        </p:txBody>
      </p:sp>
      <p:pic>
        <p:nvPicPr>
          <p:cNvPr id="10" name="그림 9" descr="텍스트이(가) 표시된 사진&#10;&#10;자동 생성된 설명">
            <a:extLst>
              <a:ext uri="{FF2B5EF4-FFF2-40B4-BE49-F238E27FC236}">
                <a16:creationId xmlns:a16="http://schemas.microsoft.com/office/drawing/2014/main" id="{04E4EE94-0746-E11C-4CC9-10BF1194DCD9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712"/>
          <a:stretch/>
        </p:blipFill>
        <p:spPr>
          <a:xfrm>
            <a:off x="5021196" y="1915767"/>
            <a:ext cx="2038365" cy="3563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86EE198-D4BC-2007-4018-B8B6CE66039D}"/>
              </a:ext>
            </a:extLst>
          </p:cNvPr>
          <p:cNvSpPr txBox="1"/>
          <p:nvPr/>
        </p:nvSpPr>
        <p:spPr>
          <a:xfrm>
            <a:off x="4800171" y="1342252"/>
            <a:ext cx="32722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merge</a:t>
            </a:r>
            <a:r>
              <a:rPr lang="ko-KR" altLang="en-US" dirty="0"/>
              <a:t> 진행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84BEA-B29F-F34A-B52A-B7E7F8D84683}"/>
              </a:ext>
            </a:extLst>
          </p:cNvPr>
          <p:cNvSpPr txBox="1"/>
          <p:nvPr/>
        </p:nvSpPr>
        <p:spPr>
          <a:xfrm>
            <a:off x="4943046" y="2413337"/>
            <a:ext cx="49820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[</a:t>
            </a:r>
            <a:r>
              <a:rPr lang="ko-KR" altLang="en-US" sz="1200" dirty="0"/>
              <a:t>참고</a:t>
            </a:r>
            <a:r>
              <a:rPr lang="en-US" altLang="ko-KR" sz="1200" dirty="0"/>
              <a:t>]</a:t>
            </a:r>
          </a:p>
          <a:p>
            <a:r>
              <a:rPr lang="en-US" altLang="ko-KR" sz="1200" dirty="0"/>
              <a:t>git merge --abort  : </a:t>
            </a:r>
            <a:r>
              <a:rPr lang="ko-KR" altLang="en-US" sz="1200" dirty="0"/>
              <a:t>충돌 무시 병합</a:t>
            </a:r>
            <a:endParaRPr lang="en-US" altLang="ko-KR" sz="1200" dirty="0"/>
          </a:p>
          <a:p>
            <a:r>
              <a:rPr lang="en-US" altLang="ko-KR" sz="1200" dirty="0"/>
              <a:t>git merge --continue : </a:t>
            </a:r>
            <a:r>
              <a:rPr lang="ko-KR" altLang="en-US" sz="1200" dirty="0"/>
              <a:t>충돌 해결 후 병합</a:t>
            </a:r>
          </a:p>
        </p:txBody>
      </p:sp>
      <p:pic>
        <p:nvPicPr>
          <p:cNvPr id="17" name="그림 16" descr="텍스트이(가) 표시된 사진&#10;&#10;자동 생성된 설명">
            <a:extLst>
              <a:ext uri="{FF2B5EF4-FFF2-40B4-BE49-F238E27FC236}">
                <a16:creationId xmlns:a16="http://schemas.microsoft.com/office/drawing/2014/main" id="{E5DAA7B6-9173-D402-A87C-E77FFAE438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3046" y="3557238"/>
            <a:ext cx="2395555" cy="221457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F70B07E8-9940-A404-F524-D7BD15CFEAF8}"/>
              </a:ext>
            </a:extLst>
          </p:cNvPr>
          <p:cNvSpPr txBox="1"/>
          <p:nvPr/>
        </p:nvSpPr>
        <p:spPr>
          <a:xfrm>
            <a:off x="8072471" y="1342252"/>
            <a:ext cx="34775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</a:t>
            </a:r>
            <a:r>
              <a:rPr lang="ko-KR" altLang="en-US" dirty="0"/>
              <a:t>로그 확인</a:t>
            </a:r>
          </a:p>
        </p:txBody>
      </p:sp>
      <p:pic>
        <p:nvPicPr>
          <p:cNvPr id="19" name="그림 18" descr="텍스트이(가) 표시된 사진&#10;&#10;자동 생성된 설명">
            <a:extLst>
              <a:ext uri="{FF2B5EF4-FFF2-40B4-BE49-F238E27FC236}">
                <a16:creationId xmlns:a16="http://schemas.microsoft.com/office/drawing/2014/main" id="{084D7F9A-F9F8-4448-FEF9-A7F046443DC5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636"/>
          <a:stretch/>
        </p:blipFill>
        <p:spPr>
          <a:xfrm>
            <a:off x="8267150" y="1852947"/>
            <a:ext cx="2057415" cy="1171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04920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C8714BEE-D328-D9EB-A350-1A3FB6C0D2F5}"/>
              </a:ext>
            </a:extLst>
          </p:cNvPr>
          <p:cNvCxnSpPr>
            <a:cxnSpLocks/>
          </p:cNvCxnSpPr>
          <p:nvPr/>
        </p:nvCxnSpPr>
        <p:spPr>
          <a:xfrm>
            <a:off x="88491" y="1128252"/>
            <a:ext cx="11956025" cy="0"/>
          </a:xfrm>
          <a:prstGeom prst="line">
            <a:avLst/>
          </a:prstGeom>
          <a:ln w="28575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E5B10886-ADAD-6BC8-EC49-73469BF2D12A}"/>
              </a:ext>
            </a:extLst>
          </p:cNvPr>
          <p:cNvSpPr txBox="1"/>
          <p:nvPr/>
        </p:nvSpPr>
        <p:spPr>
          <a:xfrm>
            <a:off x="309716" y="329381"/>
            <a:ext cx="67498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000" dirty="0"/>
              <a:t>01 GIT</a:t>
            </a:r>
            <a:endParaRPr lang="ko-KR" altLang="en-US" sz="30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03EE37-ECB3-9DCC-2827-41FB34D3549C}"/>
              </a:ext>
            </a:extLst>
          </p:cNvPr>
          <p:cNvSpPr txBox="1"/>
          <p:nvPr/>
        </p:nvSpPr>
        <p:spPr>
          <a:xfrm>
            <a:off x="399621" y="1352394"/>
            <a:ext cx="6749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- dev</a:t>
            </a:r>
            <a:r>
              <a:rPr lang="ko-KR" altLang="en-US" dirty="0"/>
              <a:t>에서 병합하기</a:t>
            </a:r>
          </a:p>
        </p:txBody>
      </p:sp>
      <p:pic>
        <p:nvPicPr>
          <p:cNvPr id="2" name="그림 1" descr="텍스트이(가) 표시된 사진&#10;&#10;자동 생성된 설명">
            <a:extLst>
              <a:ext uri="{FF2B5EF4-FFF2-40B4-BE49-F238E27FC236}">
                <a16:creationId xmlns:a16="http://schemas.microsoft.com/office/drawing/2014/main" id="{76FDDDC1-4CF2-3CC0-D33C-B4A36941EF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921" y="1945867"/>
            <a:ext cx="2057415" cy="1047758"/>
          </a:xfrm>
          <a:prstGeom prst="rect">
            <a:avLst/>
          </a:prstGeom>
        </p:spPr>
      </p:pic>
      <p:pic>
        <p:nvPicPr>
          <p:cNvPr id="4" name="그림 3" descr="텍스트이(가) 표시된 사진&#10;&#10;자동 생성된 설명">
            <a:extLst>
              <a:ext uri="{FF2B5EF4-FFF2-40B4-BE49-F238E27FC236}">
                <a16:creationId xmlns:a16="http://schemas.microsoft.com/office/drawing/2014/main" id="{BFCDC82F-4158-7BF9-247E-A9C4EEFA3E3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921" y="3309935"/>
            <a:ext cx="2319354" cy="6381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44EE6AB-3434-C328-F14F-28FA42A6C27C}"/>
              </a:ext>
            </a:extLst>
          </p:cNvPr>
          <p:cNvSpPr txBox="1"/>
          <p:nvPr/>
        </p:nvSpPr>
        <p:spPr>
          <a:xfrm>
            <a:off x="3038045" y="3293945"/>
            <a:ext cx="764900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Git merge dev --ff (fast-forward merge) : </a:t>
            </a:r>
            <a:r>
              <a:rPr lang="ko-KR" altLang="en-US" sz="1400" dirty="0"/>
              <a:t>기본값</a:t>
            </a:r>
            <a:r>
              <a:rPr lang="en-US" altLang="ko-KR" sz="1400" dirty="0"/>
              <a:t>, </a:t>
            </a:r>
            <a:r>
              <a:rPr lang="en-US" altLang="ko-KR" sz="1400" dirty="0" err="1"/>
              <a:t>head,branch</a:t>
            </a:r>
            <a:r>
              <a:rPr lang="ko-KR" altLang="en-US" sz="1400" dirty="0"/>
              <a:t>이동</a:t>
            </a:r>
            <a:endParaRPr lang="en-US" altLang="ko-KR" sz="1400" dirty="0"/>
          </a:p>
          <a:p>
            <a:r>
              <a:rPr lang="en-US" altLang="ko-KR" sz="1400" dirty="0"/>
              <a:t>Git merge dev --no—ff(no fast-forward merge) : </a:t>
            </a:r>
            <a:r>
              <a:rPr lang="ko-KR" altLang="en-US" sz="1400" dirty="0"/>
              <a:t>새로운 </a:t>
            </a:r>
            <a:r>
              <a:rPr lang="en-US" altLang="ko-KR" sz="1400" dirty="0"/>
              <a:t>commit</a:t>
            </a:r>
            <a:r>
              <a:rPr lang="ko-KR" altLang="en-US" sz="1400" dirty="0"/>
              <a:t>생성 </a:t>
            </a:r>
            <a:r>
              <a:rPr lang="en-US" altLang="ko-KR" sz="1400" dirty="0"/>
              <a:t>, head , branch</a:t>
            </a:r>
            <a:r>
              <a:rPr lang="ko-KR" altLang="en-US" sz="1400" dirty="0"/>
              <a:t>이동</a:t>
            </a:r>
          </a:p>
        </p:txBody>
      </p:sp>
      <p:pic>
        <p:nvPicPr>
          <p:cNvPr id="9" name="그림 8" descr="텍스트이(가) 표시된 사진&#10;&#10;자동 생성된 설명">
            <a:extLst>
              <a:ext uri="{FF2B5EF4-FFF2-40B4-BE49-F238E27FC236}">
                <a16:creationId xmlns:a16="http://schemas.microsoft.com/office/drawing/2014/main" id="{522A9D02-EE37-1B73-93F8-CF0610F278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921" y="4517145"/>
            <a:ext cx="2400318" cy="1238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211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1467</TotalTime>
  <Words>267</Words>
  <Application>Microsoft Office PowerPoint</Application>
  <PresentationFormat>와이드스크린</PresentationFormat>
  <Paragraphs>56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우균 정</dc:creator>
  <cp:lastModifiedBy>민재 김</cp:lastModifiedBy>
  <cp:revision>662</cp:revision>
  <dcterms:created xsi:type="dcterms:W3CDTF">2021-05-29T07:48:15Z</dcterms:created>
  <dcterms:modified xsi:type="dcterms:W3CDTF">2025-07-04T07:42:17Z</dcterms:modified>
</cp:coreProperties>
</file>